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0" autoAdjust="0"/>
    <p:restoredTop sz="62814" autoAdjust="0"/>
  </p:normalViewPr>
  <p:slideViewPr>
    <p:cSldViewPr snapToGrid="0" snapToObjects="1">
      <p:cViewPr varScale="1">
        <p:scale>
          <a:sx n="41" d="100"/>
          <a:sy n="41" d="100"/>
        </p:scale>
        <p:origin x="148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3" d="100"/>
          <a:sy n="63" d="100"/>
        </p:scale>
        <p:origin x="39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571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welcome, introduce the talk and both presenters.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Share the function of what we do</a:t>
            </a:r>
          </a:p>
          <a:p>
            <a:pPr marL="171450" indent="-171450">
              <a:buFontTx/>
              <a:buChar char="-"/>
            </a:pPr>
            <a:r>
              <a:rPr lang="en-US" dirty="0"/>
              <a:t>Share the people that we help</a:t>
            </a:r>
          </a:p>
          <a:p>
            <a:pPr marL="171450" indent="-171450">
              <a:buFontTx/>
              <a:buChar char="-"/>
            </a:pPr>
            <a:r>
              <a:rPr lang="en-US" dirty="0"/>
              <a:t>Share the impact of that work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Feedback:  let’s do our 2 intros and really emphasize the fact that we work w/ two different companies; set up that we’re going to talk about collaboration – talk about the different ways our brain works:  “Michael is the X guy”, “Keaton is the Y guy”, etc.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Let’s be sure to make it very clear in our setup (this slide &amp; beyond) that this talk is about *collaboration* with examples from our ORCA use case, as opposed to a deep-dive into a specific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Keaton, opening beat: hold for the laugh. Everyone in this room has been on this team - from group projects in school, to cross-functional committees at companies we work for, and even for business-consultant partnerships developing code and software.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How many folks in the room typically work as a lone wolf solo data scientist at their day job?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Feedback:  Can we show another meme/gif either at the end (or pretty much right after this) with the Elaine dancing gif when we reveal that the collaboration actually worked great?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You might have good reason to avoid working on a team; maybe you’ve been burned by one of the three ways that team data science falls apart:</a:t>
            </a:r>
          </a:p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Yes, today's talk involves a Shiny app, but it's really a story about an effective collaboration model between a small team working in Market Research and a data and software development consultants. A model that leveraged UI/UX best practices, a careful and conscious division of labor and a Posit-enriched tech stack to facilitate.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pivot hard. This still happens in industry — a stakeholder handing over a one-paragraph spec with no back-and-forth. ORCA is the opposite story: two companies who had to depend on each other, and made that dependency work.</a:t>
            </a:r>
          </a:p>
          <a:p>
            <a:endParaRPr lang="en-US" dirty="0"/>
          </a:p>
          <a:p>
            <a:r>
              <a:rPr lang="en-US" dirty="0"/>
              <a:t>Feedback:  We’re giving too much info here – we’re diving into the talk too quickly here; let’s do a little less of the collaboration setup</a:t>
            </a:r>
          </a:p>
          <a:p>
            <a:endParaRPr lang="en-US" dirty="0"/>
          </a:p>
          <a:p>
            <a:r>
              <a:rPr lang="en-US" dirty="0"/>
              <a:t>Start the story w/ the bookends:  it started w/ a problem, ended with a solution, and *then* we’ll fill in the middle after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open-end survey coding is slow, manual, and inconsistent at scale. AI can accelerate it — but internal stakeholders and clients won't accept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the proof is in the pudding. ORCA is now how KS&amp;R's researchers code thousands of open-ended survey responses with AI — in production, in daily use.</a:t>
            </a:r>
          </a:p>
          <a:p>
            <a:endParaRPr lang="en-US" dirty="0"/>
          </a:p>
          <a:p>
            <a:r>
              <a:rPr lang="en-US" dirty="0"/>
              <a:t>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work to build this solution was very explicitly divided: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KS&amp;R owned the back-end, server-side code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And the front-end user interface was </a:t>
            </a:r>
            <a:r>
              <a:rPr lang="en-US" dirty="0" err="1"/>
              <a:t>Ketchbrook’s</a:t>
            </a:r>
            <a:r>
              <a:rPr lang="en-US" dirty="0"/>
              <a:t> responsibility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0" lvl="0" indent="0">
              <a:buFontTx/>
              <a:buNone/>
            </a:pPr>
            <a:r>
              <a:rPr lang="en-US" dirty="0"/>
              <a:t>Maybe this sounds scary, but there are some obvious benefits to this: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Speed:  if you can truly work in parallel, obviously two people working simultaneously will get the job done faster than one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Error Catching:  more eyes on the code is more likely to catch issues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Diversity of Thought:  the best ideas will prevail (as opposed to only one person’s idea)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Specialization:  no one individual person has to be a jack-of-all-trades – people can focus on what they’re best at</a:t>
            </a:r>
          </a:p>
          <a:p>
            <a:endParaRPr lang="en-US" dirty="0"/>
          </a:p>
          <a:p>
            <a:r>
              <a:rPr lang="en-US" dirty="0"/>
              <a:t>Keaton: ORCA is a collaboration talk, not just a tech talk. KS&amp;R (research firm, backend/infra owner) and Ketchbrook Analytics (consultancy, front-end/UX owner) designed and built this together, across a company boundary, as part of KS&amp;R's DS&amp;I project-teams model.</a:t>
            </a:r>
          </a:p>
          <a:p>
            <a:endParaRPr lang="en-US" dirty="0"/>
          </a:p>
          <a:p>
            <a:r>
              <a:rPr lang="en-US" dirty="0"/>
              <a:t>Feedback:  Have Keaton talk about *why* KS&amp;R sought out an external collaborator as opposed to just doing it themselves in-house.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why front-end external, back-end in-house? Lower institutional and financial risk for an external partner to touch the AI-spend backend versus the UI. This is a limitation worth naming early, not saving for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two lenses on what follows — Michael on the Shiny front end (job submission, response review, interactive code editing), me on the Posit-based back end (golem, plumber, pins, scheduled workflows). Over to Michael.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takes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Feedback:  For each phase of the project (before, during, after), we need to have an *active takeaway* for the audience that reinforces the **collaboration**</a:t>
            </a:r>
          </a:p>
          <a:p>
            <a:endParaRPr lang="en-US" dirty="0"/>
          </a:p>
          <a:p>
            <a:r>
              <a:rPr lang="en-US" dirty="0"/>
              <a:t>Michael: shared understanding first. Wireframing sessions in Mural, where UI mockups and API/data shape were sketched in the same room before either side committed to an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KS&amp;R's brand book and design system as a forcing function — it gave the front end constraints early, which gave the back end a stable target: what data the UI would need, in what shape, on what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the key move — translating a research workflow (submit a job, review AI suggestions, edit/approve) into a UI spec and an API contract at the same time, so neither side was guessing about the other's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this is the front end making the back end's life easier — a clear contract, agreed on visually, before a single plumber endpoint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continues into chapter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how the teams worked async across two companies — GitHub Issues and PRs as shared source of truth, a branching model that let front-end and back-end ship independently against the agreed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the architecture that made this possible — a golem-based Shiny app decoupled from a plumber API for asynchronous job processing, so the UI could be built and iterated against a stable API surface while the heavier AI/coding logic evolved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a UX need — live job status, inline editing of AI output — drove a backend design decision (async job handling, structured logging). A backend constraint — batch cost and timing — shaped a front-end pattern (progress states, review queues).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this answers Keaton's opening question directly — why did this collaboration succeed — with receipts, not just an assertion. Over to Keaton for chapter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 takes back over for chapter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modularizing the backend independently from the front end is what made the parallel, non-blocking collaboration possible. ORCAstra for async processing, ORCAdb/pins for versioned metadata, ORCAwatch for scheduled batch logging and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I wanted to dig into AI-specific best practices here — prompt design, cost control, model versioning. But this talk isn't really about the AI, it's about the collaboration. Here's what I want you to know if you're curious — it's all in a repo, QR code TBD.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Keaton: pins for versioned metadata mean every AI-coded result is traceable to a model version and data snapshot. Scheduled batch workflows leave an audit trail. Ties back to the front end: the categorization spec and context interface is where human judgment stays in the loop — and it only works because the backend guarantees what's underneath is versioned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the real product wasn't just ORCA — it was a repeatable model for cross-company, cross-discipline collaboration on the Posit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Michael: if you're building Shiny apps with a partner team — agency/client, research/engineering, frontend/backend — invest early in shared visual contracts, issue-driven development, and an architecture that lets both sides move independently against a stable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Both: thank the audience,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POSIT::CONF(2026)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886200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171"/>
              </a:lnSpc>
              <a:buNone/>
            </a:pPr>
            <a:r>
              <a:rPr lang="en-US" sz="9000" dirty="0">
                <a:solidFill>
                  <a:srgbClr val="97C6F2"/>
                </a:solidFill>
                <a:latin typeface="Goudy Old Style" panose="02020502050305020303" pitchFamily="18" charset="77"/>
                <a:ea typeface="Baskerville" panose="02020502070401020303" pitchFamily="18" charset="0"/>
                <a:cs typeface="Source Serif 4" pitchFamily="34" charset="-120"/>
              </a:rPr>
              <a:t>ORCA</a:t>
            </a:r>
            <a:endParaRPr lang="en-US" sz="9000" dirty="0">
              <a:latin typeface="Goudy Old Style" panose="02020502050305020303" pitchFamily="18" charset="77"/>
              <a:ea typeface="Baskerville" panose="02020502070401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5257800"/>
            <a:ext cx="146685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77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a </a:t>
            </a:r>
            <a:r>
              <a:rPr lang="en-US" sz="3300" b="1" dirty="0">
                <a:solidFill>
                  <a:srgbClr val="FFFFFF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collaboration to build </a:t>
            </a:r>
            <a:r>
              <a:rPr lang="en-US" sz="3300" dirty="0">
                <a:solidFill>
                  <a:srgbClr val="FFFFFF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an </a:t>
            </a:r>
            <a:r>
              <a:rPr lang="en-US" sz="3300" dirty="0">
                <a:solidFill>
                  <a:srgbClr val="FFFFFF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AI-powered Shiny app, deployed</a:t>
            </a:r>
            <a:r>
              <a:rPr lang="en-US" sz="3300" b="1" dirty="0">
                <a:solidFill>
                  <a:srgbClr val="FFFFFF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 </a:t>
            </a:r>
            <a:r>
              <a:rPr lang="en-US" sz="3300" dirty="0">
                <a:solidFill>
                  <a:srgbClr val="FFFFFF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on Posit Team</a:t>
            </a:r>
            <a:endParaRPr lang="en-US" sz="3300" dirty="0">
              <a:latin typeface="Avenir Next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95500" y="8653463"/>
            <a:ext cx="39601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Keaton Wilson</a:t>
            </a:r>
            <a:endParaRPr lang="en-US" sz="2100" dirty="0">
              <a:latin typeface="Avenir Next" panose="020B05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95500" y="8948738"/>
            <a:ext cx="39601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D93B8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(Previously) KS&amp;R - Director, Solutions</a:t>
            </a:r>
            <a:endParaRPr lang="en-US" sz="1650" dirty="0">
              <a:latin typeface="Avenir Next" panose="020B0503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895159" y="8629650"/>
            <a:ext cx="9525" cy="571500"/>
          </a:xfrm>
          <a:prstGeom prst="rect">
            <a:avLst/>
          </a:prstGeom>
          <a:solidFill>
            <a:srgbClr val="2C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695361" y="8653463"/>
            <a:ext cx="44971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FFFF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Michael Thomas</a:t>
            </a:r>
            <a:endParaRPr lang="en-US" sz="2100" dirty="0">
              <a:latin typeface="Avenir Next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695361" y="8948738"/>
            <a:ext cx="44971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7D93B8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Ketchbrook Analytics — Chief Data Scientist</a:t>
            </a:r>
            <a:endParaRPr lang="en-US" sz="165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952500"/>
            <a:ext cx="8382000" cy="838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500" y="4176712"/>
            <a:ext cx="79629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LET'S START HERE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096500" y="4729163"/>
            <a:ext cx="745617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4500" dirty="0">
                <a:solidFill>
                  <a:srgbClr val="142645"/>
                </a:solidFill>
                <a:latin typeface="Goudy Old Style" panose="02020502050305020303" pitchFamily="18" charset="77"/>
                <a:ea typeface="Source Serif 4" pitchFamily="34" charset="-122"/>
                <a:cs typeface="Source Serif 4" pitchFamily="34" charset="-120"/>
              </a:rPr>
              <a:t>We've all </a:t>
            </a:r>
            <a:r>
              <a:rPr lang="en-US" sz="4500" b="1" dirty="0">
                <a:solidFill>
                  <a:srgbClr val="142645"/>
                </a:solidFill>
                <a:latin typeface="Goudy Old Style" panose="02020502050305020303" pitchFamily="18" charset="77"/>
                <a:ea typeface="Archivo" pitchFamily="34" charset="-122"/>
                <a:cs typeface="Archivo" pitchFamily="34" charset="-120"/>
              </a:rPr>
              <a:t>been </a:t>
            </a:r>
            <a:r>
              <a:rPr lang="en-US" sz="4500" dirty="0">
                <a:solidFill>
                  <a:srgbClr val="142645"/>
                </a:solidFill>
                <a:latin typeface="Goudy Old Style" panose="02020502050305020303" pitchFamily="18" charset="77"/>
                <a:ea typeface="Source Serif 4" pitchFamily="34" charset="-122"/>
                <a:cs typeface="Source Serif 4" pitchFamily="34" charset="-120"/>
              </a:rPr>
              <a:t>on this team.</a:t>
            </a:r>
            <a:endParaRPr lang="en-US" sz="4500" dirty="0">
              <a:latin typeface="Goudy Old Style" panose="02020502050305020303" pitchFamily="18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A FAMILIAR FAILURE MODE</a:t>
            </a:r>
            <a:endParaRPr lang="en-US" sz="18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57162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598"/>
              </a:lnSpc>
              <a:buNone/>
            </a:pPr>
            <a:r>
              <a:rPr lang="en-US" sz="4800" dirty="0">
                <a:solidFill>
                  <a:srgbClr val="142645"/>
                </a:solidFill>
                <a:latin typeface="Goudy Old Style" panose="02020502050305020303" pitchFamily="18" charset="77"/>
                <a:ea typeface="Source Serif 4" pitchFamily="34" charset="-122"/>
                <a:cs typeface="Source Serif 4" pitchFamily="34" charset="-120"/>
              </a:rPr>
              <a:t>Three ways cross-team builds fall apart</a:t>
            </a:r>
            <a:endParaRPr lang="en-US" sz="4800" dirty="0">
              <a:latin typeface="Goudy Old Style" panose="02020502050305020303" pitchFamily="18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886075"/>
            <a:ext cx="556011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97C6F2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4200" dirty="0">
              <a:latin typeface="Avenir Next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500" y="3771900"/>
            <a:ext cx="5560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264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No clear division of labor</a:t>
            </a:r>
            <a:endParaRPr lang="en-US" sz="2800" dirty="0">
              <a:latin typeface="Avenir Next" panose="020B05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4543893"/>
            <a:ext cx="520628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462"/>
              </a:lnSpc>
              <a:buNone/>
            </a:pPr>
            <a:r>
              <a:rPr lang="en-US" sz="1800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One person quietly ends up carrying the whole project.</a:t>
            </a:r>
            <a:endParaRPr lang="en-US" sz="1800" dirty="0">
              <a:latin typeface="Avenir Next" panose="020B05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16750" y="2886075"/>
            <a:ext cx="556011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97C6F2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4200" dirty="0">
              <a:latin typeface="Avenir Next" panose="020B05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16750" y="3771900"/>
            <a:ext cx="5560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264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No shared tooling</a:t>
            </a:r>
            <a:endParaRPr lang="en-US" sz="2800" dirty="0">
              <a:latin typeface="Avenir Next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16750" y="4543893"/>
            <a:ext cx="520628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462"/>
              </a:lnSpc>
              <a:buNone/>
            </a:pPr>
            <a:r>
              <a:rPr lang="en-US" sz="1800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Work happens in silos, stitched together at the last minute.</a:t>
            </a:r>
            <a:endParaRPr lang="en-US" sz="1800" dirty="0">
              <a:latin typeface="Avenir Next" panose="020B05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280999" y="2886075"/>
            <a:ext cx="556011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97C6F2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4200" dirty="0">
              <a:latin typeface="Avenir Next" panose="020B05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280999" y="3771900"/>
            <a:ext cx="5560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264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No shared goals or guardrails</a:t>
            </a:r>
            <a:endParaRPr lang="en-US" sz="2800" dirty="0">
              <a:latin typeface="Avenir Next" panose="020B0503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EFE3561-EEE1-14B0-6A95-140B2A466541}"/>
              </a:ext>
            </a:extLst>
          </p:cNvPr>
          <p:cNvSpPr/>
          <p:nvPr/>
        </p:nvSpPr>
        <p:spPr>
          <a:xfrm>
            <a:off x="12280999" y="4543893"/>
            <a:ext cx="520628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462"/>
              </a:lnSpc>
              <a:buNone/>
            </a:pPr>
            <a:r>
              <a:rPr lang="en-US" sz="1800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Different vision, even if division of labor is clear, serving the part and not the whole</a:t>
            </a:r>
            <a:endParaRPr lang="en-US" sz="180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576638"/>
            <a:ext cx="180213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dirty="0">
                <a:solidFill>
                  <a:srgbClr val="97C6F2"/>
                </a:solidFill>
                <a:latin typeface="Goudy Old Style" panose="02020502050305020303" pitchFamily="18" charset="77"/>
                <a:ea typeface="Baskerville" panose="02020502070401020303" pitchFamily="18" charset="0"/>
                <a:cs typeface="Source Serif 4" pitchFamily="34" charset="-120"/>
              </a:rPr>
              <a:t>This wasn't that.</a:t>
            </a:r>
            <a:endParaRPr lang="en-US" sz="6000" dirty="0">
              <a:latin typeface="Goudy Old Style" panose="02020502050305020303" pitchFamily="18" charset="77"/>
              <a:ea typeface="Baskerville" panose="02020502070401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5081588"/>
            <a:ext cx="1373505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5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A front-end team and a back-end team, at </a:t>
            </a:r>
            <a:r>
              <a:rPr lang="en-US" sz="2850" b="1" dirty="0">
                <a:solidFill>
                  <a:srgbClr val="97C6F2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two different companies</a:t>
            </a:r>
            <a:r>
              <a:rPr lang="en-US" sz="2850" dirty="0">
                <a:solidFill>
                  <a:srgbClr val="FFFFFF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, who had to depend on each other to ship anything at all — and built the collaboration that made that dependency work.</a:t>
            </a:r>
            <a:endParaRPr lang="en-US" sz="285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95325"/>
            <a:ext cx="26125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kern="0" spc="144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WHY ORCA EXISTS</a:t>
            </a:r>
            <a:endParaRPr lang="en-US" sz="20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4716125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4200" dirty="0">
                <a:solidFill>
                  <a:srgbClr val="142645"/>
                </a:solidFill>
                <a:latin typeface="Goudy Old Style" panose="02020502050305020303" pitchFamily="18" charset="77"/>
                <a:ea typeface="Source Serif 4" pitchFamily="34" charset="-122"/>
                <a:cs typeface="Source Serif 4" pitchFamily="34" charset="-120"/>
              </a:rPr>
              <a:t>Coding open-end survey responses is slow, manual, and inconsistent at scale</a:t>
            </a:r>
            <a:endParaRPr lang="en-US" sz="4200" dirty="0">
              <a:latin typeface="Goudy Old Style" panose="02020502050305020303" pitchFamily="18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3238500"/>
            <a:ext cx="127539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6286"/>
              </a:lnSpc>
              <a:buNone/>
            </a:pPr>
            <a:r>
              <a:rPr lang="en-US" sz="2400" dirty="0">
                <a:solidFill>
                  <a:srgbClr val="3A4A63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AI can accelerate the work of categorizing thousands of free-text answers. But for a research firm's internal stakeholders and clients, speed means nothing without trust in the result.</a:t>
            </a:r>
            <a:endParaRPr lang="en-US" sz="2400" dirty="0">
              <a:latin typeface="Avenir Next" panose="020B0503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2500" y="4819650"/>
            <a:ext cx="2069604" cy="609600"/>
          </a:xfrm>
          <a:prstGeom prst="rect">
            <a:avLst/>
          </a:prstGeom>
          <a:ln w="9525">
            <a:solidFill>
              <a:srgbClr val="1426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6825" y="5000625"/>
            <a:ext cx="15171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50704" y="4819650"/>
            <a:ext cx="1165771" cy="609600"/>
          </a:xfrm>
          <a:prstGeom prst="rect">
            <a:avLst/>
          </a:prstGeom>
          <a:ln w="9525">
            <a:solidFill>
              <a:srgbClr val="1426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5029" y="5000625"/>
            <a:ext cx="6133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Trust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45075" y="4819650"/>
            <a:ext cx="2223195" cy="609600"/>
          </a:xfrm>
          <a:prstGeom prst="rect">
            <a:avLst/>
          </a:prstGeom>
          <a:ln w="9525">
            <a:solidFill>
              <a:srgbClr val="1426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9400" y="5000625"/>
            <a:ext cx="16707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Reproducibility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43702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is </a:t>
            </a:r>
            <a:r>
              <a:rPr lang="en-US" sz="2000" kern="0" spc="144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ORCA</a:t>
            </a:r>
            <a:r>
              <a:rPr lang="en-US" sz="20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543675" y="1463832"/>
            <a:ext cx="10791825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88889"/>
              </a:lnSpc>
              <a:buNone/>
            </a:pPr>
            <a:r>
              <a:rPr lang="en-US" sz="3600" dirty="0">
                <a:solidFill>
                  <a:srgbClr val="142645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ORCA is now how KS&amp;R's researchers code </a:t>
            </a:r>
            <a:r>
              <a:rPr lang="en-US" sz="3600" b="1" dirty="0">
                <a:solidFill>
                  <a:srgbClr val="14264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thousands </a:t>
            </a:r>
            <a:r>
              <a:rPr lang="en-US" sz="3600" dirty="0">
                <a:solidFill>
                  <a:srgbClr val="142645"/>
                </a:solidFill>
                <a:latin typeface="Avenir Next" panose="020B0503020202020204" pitchFamily="34" charset="0"/>
                <a:ea typeface="Source Serif 4" pitchFamily="34" charset="-122"/>
                <a:cs typeface="Source Serif 4" pitchFamily="34" charset="-120"/>
              </a:rPr>
              <a:t>of open-end responses</a:t>
            </a:r>
            <a:endParaRPr lang="en-US" sz="3600" dirty="0">
              <a:latin typeface="Avenir Next" panose="020B05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500" y="3219450"/>
            <a:ext cx="3810000" cy="4128385"/>
          </a:xfrm>
          <a:prstGeom prst="rect">
            <a:avLst/>
          </a:prstGeom>
          <a:solidFill>
            <a:srgbClr val="F0EBE5"/>
          </a:solidFill>
          <a:ln w="9525">
            <a:solidFill>
              <a:srgbClr val="D8D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962025" y="3228975"/>
            <a:ext cx="3790950" cy="32602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311736"/>
            <a:ext cx="2327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287386" y="8364671"/>
            <a:ext cx="1650685" cy="779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Upload data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14925" y="3219450"/>
            <a:ext cx="3895725" cy="4128385"/>
          </a:xfrm>
          <a:prstGeom prst="rect">
            <a:avLst/>
          </a:prstGeom>
          <a:solidFill>
            <a:srgbClr val="F0EBE5"/>
          </a:solidFill>
          <a:ln w="9525">
            <a:solidFill>
              <a:srgbClr val="D8D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5124450" y="3228975"/>
            <a:ext cx="3876675" cy="30517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14925" y="8311736"/>
            <a:ext cx="2327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5449812" y="8364671"/>
            <a:ext cx="1799862" cy="779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Define codes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9277350" y="3219450"/>
            <a:ext cx="3895725" cy="4128385"/>
          </a:xfrm>
          <a:prstGeom prst="rect">
            <a:avLst/>
          </a:prstGeom>
          <a:solidFill>
            <a:srgbClr val="F0EBE5"/>
          </a:solidFill>
          <a:ln w="9525">
            <a:solidFill>
              <a:srgbClr val="D8D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9286875" y="3228975"/>
            <a:ext cx="3876675" cy="29128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77350" y="8311736"/>
            <a:ext cx="2327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0"/>
          <p:cNvSpPr/>
          <p:nvPr/>
        </p:nvSpPr>
        <p:spPr>
          <a:xfrm>
            <a:off x="9612236" y="8364671"/>
            <a:ext cx="2262193" cy="779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Review &amp; initiate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13439775" y="3219450"/>
            <a:ext cx="3895725" cy="4128385"/>
          </a:xfrm>
          <a:prstGeom prst="rect">
            <a:avLst/>
          </a:prstGeom>
          <a:solidFill>
            <a:srgbClr val="F0EBE5"/>
          </a:solidFill>
          <a:ln w="9525">
            <a:solidFill>
              <a:srgbClr val="D8D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13449300" y="3228975"/>
            <a:ext cx="3876675" cy="33252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439775" y="8311736"/>
            <a:ext cx="2327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2550" dirty="0"/>
          </a:p>
        </p:txBody>
      </p:sp>
      <p:sp>
        <p:nvSpPr>
          <p:cNvPr id="19" name="Text 13"/>
          <p:cNvSpPr/>
          <p:nvPr/>
        </p:nvSpPr>
        <p:spPr>
          <a:xfrm>
            <a:off x="13774662" y="8364671"/>
            <a:ext cx="2066193" cy="779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Track &amp; pick up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499"/>
            <a:ext cx="3094844" cy="621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144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A CROSS-COMPANY BUILD</a:t>
            </a:r>
            <a:endParaRPr lang="en-US" sz="2000" dirty="0">
              <a:latin typeface="Avenir Next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1757363"/>
            <a:ext cx="1688579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142645"/>
                </a:solidFill>
                <a:latin typeface="Goudy Old Style" panose="02020502050305020303" pitchFamily="18" charset="77"/>
                <a:ea typeface="Source Serif 4" pitchFamily="34" charset="-122"/>
                <a:cs typeface="Source Serif 4" pitchFamily="34" charset="-120"/>
              </a:rPr>
              <a:t>One system, two companies</a:t>
            </a:r>
            <a:endParaRPr lang="en-US" sz="4200" dirty="0">
              <a:latin typeface="Goudy Old Style" panose="02020502050305020303" pitchFamily="18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016386" y="5924823"/>
            <a:ext cx="344537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10499353" y="3567659"/>
            <a:ext cx="6836146" cy="54858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140036" y="8386761"/>
            <a:ext cx="35547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Consultancy Front-end &amp; UX owner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52500" y="2586038"/>
            <a:ext cx="90759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85"/>
                </a:solidFill>
                <a:latin typeface="Avenir Next" panose="020B0503020202020204" pitchFamily="34" charset="0"/>
                <a:ea typeface="Archivo" pitchFamily="34" charset="-122"/>
                <a:cs typeface="Archivo" pitchFamily="34" charset="-120"/>
              </a:rPr>
              <a:t>Built as one of KS&amp;R's DS&amp;I project teams — a research firm and an external consultancy, one shared build.</a:t>
            </a:r>
            <a:endParaRPr lang="en-US" sz="1650" dirty="0">
              <a:latin typeface="Avenir Next" panose="020B0503020202020204" pitchFamily="34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153258F-AC74-C1F0-7101-A4F5CB527F87}"/>
              </a:ext>
            </a:extLst>
          </p:cNvPr>
          <p:cNvSpPr/>
          <p:nvPr/>
        </p:nvSpPr>
        <p:spPr>
          <a:xfrm>
            <a:off x="952500" y="3567659"/>
            <a:ext cx="6925456" cy="54858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55214" y="8386761"/>
            <a:ext cx="472002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Research firm Backend &amp; infrastructure owner</a:t>
            </a:r>
            <a:endParaRPr lang="en-US" sz="1800" dirty="0"/>
          </a:p>
        </p:txBody>
      </p:sp>
      <p:pic>
        <p:nvPicPr>
          <p:cNvPr id="5" name="Picture 4" descr="The image is a monochromatic blue pattern featuring numerous spherical shapes, each slightly overlapping, creating a cohesive, textured, and symmetrical design.&#10;&#10;AI-generated content may be incorrect.">
            <a:extLst>
              <a:ext uri="{FF2B5EF4-FFF2-40B4-BE49-F238E27FC236}">
                <a16:creationId xmlns:a16="http://schemas.microsoft.com/office/drawing/2014/main" id="{D3C5D7B5-D291-CF5F-DE1C-9FDB93674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3686" y="3951741"/>
            <a:ext cx="3027477" cy="3027477"/>
          </a:xfrm>
          <a:prstGeom prst="rect">
            <a:avLst/>
          </a:prstGeom>
        </p:spPr>
      </p:pic>
      <p:pic>
        <p:nvPicPr>
          <p:cNvPr id="13" name="Picture 12" descr="Ketchbrook Analytics logo with a blue circular pattern.&#10;&#10;AI-generated content may be incorrect.">
            <a:extLst>
              <a:ext uri="{FF2B5EF4-FFF2-40B4-BE49-F238E27FC236}">
                <a16:creationId xmlns:a16="http://schemas.microsoft.com/office/drawing/2014/main" id="{A2D0E53C-9B36-78EE-7FB5-E19CE857A1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39" t="51153"/>
          <a:stretch>
            <a:fillRect/>
          </a:stretch>
        </p:blipFill>
        <p:spPr>
          <a:xfrm>
            <a:off x="12690949" y="7527234"/>
            <a:ext cx="2906860" cy="583299"/>
          </a:xfrm>
          <a:prstGeom prst="rect">
            <a:avLst/>
          </a:prstGeom>
        </p:spPr>
      </p:pic>
      <p:pic>
        <p:nvPicPr>
          <p:cNvPr id="15" name="Picture 14" descr="Ketchbrook Analytics logo with a blue circular pattern.&#10;&#10;AI-generated content may be incorrect.">
            <a:extLst>
              <a:ext uri="{FF2B5EF4-FFF2-40B4-BE49-F238E27FC236}">
                <a16:creationId xmlns:a16="http://schemas.microsoft.com/office/drawing/2014/main" id="{4EBB01AA-17AA-ACFD-8740-A2D7973934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39" b="53927"/>
          <a:stretch>
            <a:fillRect/>
          </a:stretch>
        </p:blipFill>
        <p:spPr>
          <a:xfrm>
            <a:off x="12463994" y="6975919"/>
            <a:ext cx="2906860" cy="550173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6BC6C570-E878-BF67-C918-FBF72EB1F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6070" y="5562656"/>
            <a:ext cx="5298316" cy="1495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DELIBERATE CONSTRAINT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57162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42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Front-end external, back-end in-house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676525"/>
            <a:ext cx="8123301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625"/>
              </a:lnSpc>
              <a:buNone/>
            </a:pPr>
            <a:r>
              <a:rPr lang="en-US" sz="2250" dirty="0">
                <a:solidFill>
                  <a:srgbClr val="3A4A6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Keeping AI spend, API keys, and job orchestration in-house lowered institutional and financial risk — an external partner touching the backend carries more exposure than one shaping the UI.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448800" y="2676525"/>
            <a:ext cx="8123301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625"/>
              </a:lnSpc>
              <a:buNone/>
            </a:pPr>
            <a:r>
              <a:rPr lang="en-US" sz="2250" dirty="0">
                <a:solidFill>
                  <a:srgbClr val="3A4A6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also meant Ketchbrook could move fast on the front end without waiting on KS&amp;R's internal security review for every change.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LENSES ON ONE BUILD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809750"/>
            <a:ext cx="816721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Michael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52500" y="2581275"/>
            <a:ext cx="81672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Shiny front 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019425"/>
            <a:ext cx="8167211" cy="1919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8571"/>
              </a:lnSpc>
              <a:buNone/>
            </a:pPr>
            <a:r>
              <a:rPr lang="en-US" sz="19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Job submission, response review, interactive category editing, all with </a:t>
            </a:r>
            <a:r>
              <a:rPr lang="en-US" sz="1950" i="1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golem </a:t>
            </a:r>
            <a:r>
              <a:rPr lang="en-US" sz="19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long term maintainability and modularity.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39238" y="1809750"/>
            <a:ext cx="9525" cy="6057900"/>
          </a:xfrm>
          <a:prstGeom prst="rect">
            <a:avLst/>
          </a:prstGeom>
          <a:solidFill>
            <a:srgbClr val="2C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10763" y="1809750"/>
            <a:ext cx="816721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Keaton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910763" y="2581275"/>
            <a:ext cx="81672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Posit-based back 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10763" y="3019425"/>
            <a:ext cx="8167211" cy="1703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8571"/>
              </a:lnSpc>
              <a:buNone/>
            </a:pPr>
            <a:r>
              <a:rPr lang="en-US" sz="1950" i="1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plumber </a:t>
            </a:r>
            <a:r>
              <a:rPr lang="en-US" sz="19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middleware</a:t>
            </a:r>
            <a:r>
              <a:rPr lang="en-US" sz="1950" i="1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</a:p>
          <a:p>
            <a:pPr marL="0" indent="0" algn="l">
              <a:lnSpc>
                <a:spcPct val="148571"/>
              </a:lnSpc>
              <a:buNone/>
            </a:pPr>
            <a:r>
              <a:rPr lang="en-US" sz="19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{pins}, and scheduled Quarto workflows.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8172450"/>
            <a:ext cx="16383000" cy="9525"/>
          </a:xfrm>
          <a:prstGeom prst="rect">
            <a:avLst/>
          </a:prstGeom>
          <a:solidFill>
            <a:srgbClr val="2C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8486775"/>
            <a:ext cx="168744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286"/>
              </a:lnSpc>
              <a:buNone/>
            </a:pPr>
            <a:r>
              <a:rPr lang="en-US" sz="19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throughline: at every stage, a front-end decision made the back-end's job </a:t>
            </a:r>
            <a:r>
              <a:rPr lang="en-US" sz="1950" b="1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harder or easier </a:t>
            </a:r>
            <a:r>
              <a:rPr lang="en-US" sz="19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 and vice versa.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717536" y="9086850"/>
            <a:ext cx="6179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Next — Michael, on designing together before writing code →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33812"/>
            <a:ext cx="15719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41800" y="3833812"/>
            <a:ext cx="8699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Michael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386263"/>
            <a:ext cx="15716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636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Designing together, before writing a line of code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52500" y="5700713"/>
            <a:ext cx="16383000" cy="9525"/>
          </a:xfrm>
          <a:prstGeom prst="rect">
            <a:avLst/>
          </a:prstGeom>
          <a:solidFill>
            <a:srgbClr val="2C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5976938"/>
            <a:ext cx="1000423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90625" y="6100763"/>
            <a:ext cx="6003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Mural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105323" y="5976938"/>
            <a:ext cx="2143125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43448" y="6100763"/>
            <a:ext cx="17430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KS&amp;R brand book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400848" y="5976938"/>
            <a:ext cx="2862263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8973" y="6100763"/>
            <a:ext cx="24718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 system &amp; font files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SHARED UNDERSTANDING, FIRST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80213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Wireframing together before a single line of code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514260" y="2090728"/>
            <a:ext cx="5861923" cy="1709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4516"/>
              </a:lnSpc>
              <a:buNone/>
            </a:pPr>
            <a:r>
              <a:rPr lang="en-US" sz="2100" dirty="0">
                <a:solidFill>
                  <a:srgbClr val="3A4A6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Stakeholder engagement, wireframes and API shape, sketched together in Mural - before either side committed to an implementation.</a:t>
            </a:r>
            <a:endParaRPr lang="en-US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688A7-2465-0D1C-0BD2-B309C3E47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58502"/>
            <a:ext cx="7772400" cy="5569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029F01-5139-661B-95E1-6C287629E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77" y="4920484"/>
            <a:ext cx="7772400" cy="4282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BADB13-0ED8-9C5A-290A-4E6895EC9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1589" y="6035515"/>
            <a:ext cx="6536648" cy="40419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CONSTRAINTS AS A GIFT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57162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887"/>
              </a:lnSpc>
              <a:buNone/>
            </a:pPr>
            <a:r>
              <a:rPr lang="en-US" sz="39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brand book as a forcing function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5257800"/>
            <a:ext cx="816254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3A4A6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Early visual constraints gave the front end a fixed target — which in turn gave the back end a stable target: what data the UI would need, in what shape, on what cadence.</a:t>
            </a:r>
            <a:endParaRPr lang="en-US" sz="2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1498D-F70A-FF01-8FED-1F03D03F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797" y="0"/>
            <a:ext cx="5786203" cy="4479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95CDB4-1490-58F0-64BD-6D9F840A2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796" y="2404880"/>
            <a:ext cx="5786203" cy="57058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4ACCCE-3324-48FA-9C25-A65BF09B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4898" y="8054841"/>
            <a:ext cx="2893102" cy="22417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C043F3-8135-4008-4EB6-E08D213F4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1797" y="8077272"/>
            <a:ext cx="2893101" cy="22386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E7D6B2-AF18-07D3-D93C-3E31A46EA5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1796" y="663575"/>
            <a:ext cx="22479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KEY MOVE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6383001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workflow, two contracts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705100"/>
            <a:ext cx="7972425" cy="6638925"/>
          </a:xfrm>
          <a:prstGeom prst="rect">
            <a:avLst/>
          </a:prstGeom>
          <a:ln w="9525">
            <a:solidFill>
              <a:srgbClr val="D8D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709" r="2709"/>
          <a:stretch/>
        </p:blipFill>
        <p:spPr>
          <a:xfrm>
            <a:off x="962025" y="2714625"/>
            <a:ext cx="7953375" cy="66198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82125" y="4005262"/>
            <a:ext cx="7953375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48825" y="4214813"/>
            <a:ext cx="76585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Submit a coding job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382125" y="4910138"/>
            <a:ext cx="7953375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48825" y="5119688"/>
            <a:ext cx="76585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Review AI suggestions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9382125" y="5815013"/>
            <a:ext cx="7953375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48825" y="6024563"/>
            <a:ext cx="76585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Edit &amp; approve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8984456" y="6719888"/>
            <a:ext cx="87487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↓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9382125" y="7386638"/>
            <a:ext cx="3881438" cy="657225"/>
          </a:xfrm>
          <a:prstGeom prst="rect">
            <a:avLst/>
          </a:prstGeom>
          <a:solidFill>
            <a:srgbClr val="142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48825" y="7596187"/>
            <a:ext cx="346448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UI spec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13454063" y="7386638"/>
            <a:ext cx="3881438" cy="657225"/>
          </a:xfrm>
          <a:prstGeom prst="rect">
            <a:avLst/>
          </a:prstGeom>
          <a:solidFill>
            <a:srgbClr val="142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720762" y="7596187"/>
            <a:ext cx="346448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API contract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395788"/>
            <a:ext cx="14716125" cy="153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818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contract, agreed on visually, before a single </a:t>
            </a:r>
            <a:r>
              <a:rPr lang="en-US" sz="4200" b="1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{plumber} </a:t>
            </a:r>
            <a:r>
              <a:rPr lang="en-US" sz="42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endpoint existed.</a:t>
            </a:r>
            <a:endParaRPr lang="en-US" sz="4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33812"/>
            <a:ext cx="15834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41800" y="3833812"/>
            <a:ext cx="8699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Michael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386263"/>
            <a:ext cx="15716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636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Building in parallel, without blocking each other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52500" y="5700713"/>
            <a:ext cx="16383000" cy="9525"/>
          </a:xfrm>
          <a:prstGeom prst="rect">
            <a:avLst/>
          </a:prstGeom>
          <a:solidFill>
            <a:srgbClr val="2C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5976938"/>
            <a:ext cx="2427536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90625" y="6100763"/>
            <a:ext cx="20274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GitHub Issues &amp; PRs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532436" y="5976938"/>
            <a:ext cx="1202085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70561" y="6100763"/>
            <a:ext cx="8020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{golem}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886920" y="5976938"/>
            <a:ext cx="1391096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5045" y="6100763"/>
            <a:ext cx="9910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{plumber}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WORKING ASYNC, ACROSS COMPANIES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57162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887"/>
              </a:lnSpc>
              <a:buNone/>
            </a:pPr>
            <a:r>
              <a:rPr lang="en-US" sz="39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Issues and PRs as the shared source of truth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52500" y="2628900"/>
            <a:ext cx="812330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3A4A6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GitHub Issues tracked what needed to happen and who owned it — across two companies, with no shared Slack or shared employer.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448800" y="2628900"/>
            <a:ext cx="812330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3A4A6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branching model let each side ship independently against the agreed contract, and merge without stepping on the other's work.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ARCHITECTURE THAT MADE IT POSSIBLE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80213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stable seam between two codebases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714625"/>
            <a:ext cx="4851350" cy="6067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6002" y="5300663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ORCA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607766" y="5681663"/>
            <a:ext cx="16948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{golem} Shiny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40248" y="6005513"/>
            <a:ext cx="9520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Ketchbrook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08650" y="5519738"/>
            <a:ext cx="381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⇄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718250" y="2714625"/>
            <a:ext cx="4851350" cy="6067425"/>
          </a:xfrm>
          <a:prstGeom prst="rect">
            <a:avLst/>
          </a:prstGeom>
          <a:solidFill>
            <a:srgbClr val="142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63421" y="5300663"/>
            <a:ext cx="1237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ORCAstra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554343" y="5681663"/>
            <a:ext cx="12552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{plumber}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07810" y="6005513"/>
            <a:ext cx="5484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KS&amp;R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874401" y="5519738"/>
            <a:ext cx="381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7C6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⇄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484001" y="2714625"/>
            <a:ext cx="4851350" cy="6067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475023" y="5453063"/>
            <a:ext cx="9455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OpenAI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055328" y="5834063"/>
            <a:ext cx="18794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classification 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2500" y="90868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UI iterated against a stable API surface while the heavier logic behind it kept changing.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WENT BOTH DIRECTIONS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63734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UX needs and backend constraints, both ways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5062538"/>
            <a:ext cx="4619625" cy="952500"/>
          </a:xfrm>
          <a:prstGeom prst="rect">
            <a:avLst/>
          </a:prstGeom>
          <a:solidFill>
            <a:srgbClr val="F0EB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19200" y="5291138"/>
            <a:ext cx="422481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Live job status &amp; inline editing of AI output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00725" y="5391150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276975" y="5186363"/>
            <a:ext cx="4619625" cy="704850"/>
          </a:xfrm>
          <a:prstGeom prst="rect">
            <a:avLst/>
          </a:prstGeom>
          <a:solidFill>
            <a:srgbClr val="142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43675" y="5414963"/>
            <a:ext cx="4224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Async job handling, structured logging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6281738"/>
            <a:ext cx="4619625" cy="704850"/>
          </a:xfrm>
          <a:prstGeom prst="rect">
            <a:avLst/>
          </a:prstGeom>
          <a:solidFill>
            <a:srgbClr val="142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19200" y="6510338"/>
            <a:ext cx="4224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Batch cost &amp; timing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00725" y="6486525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276975" y="6281738"/>
            <a:ext cx="4619625" cy="704850"/>
          </a:xfrm>
          <a:prstGeom prst="rect">
            <a:avLst/>
          </a:prstGeom>
          <a:solidFill>
            <a:srgbClr val="F0EB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3675" y="6510338"/>
            <a:ext cx="4224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Progress states, review queues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0" y="2714625"/>
            <a:ext cx="5905500" cy="6086475"/>
          </a:xfrm>
          <a:prstGeom prst="rect">
            <a:avLst/>
          </a:prstGeom>
          <a:ln w="9525">
            <a:solidFill>
              <a:srgbClr val="D8D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8390" r="8390"/>
          <a:stretch/>
        </p:blipFill>
        <p:spPr>
          <a:xfrm>
            <a:off x="11439525" y="2724150"/>
            <a:ext cx="5886450" cy="60674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0" y="8915400"/>
            <a:ext cx="60826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status table users asked for — and the structured logging behind it.</a:t>
            </a:r>
            <a:endParaRPr lang="en-US" sz="15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71913"/>
            <a:ext cx="1571625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818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an assertion — </a:t>
            </a:r>
            <a:r>
              <a:rPr lang="en-US" sz="4200" b="1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receipts.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5157788"/>
            <a:ext cx="13620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484"/>
              </a:lnSpc>
              <a:buNone/>
            </a:pPr>
            <a:r>
              <a:rPr lang="en-US" sz="210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Issues, PRs, and a contract everyone could point to — that's why this collaboration held together.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890153" y="6167438"/>
            <a:ext cx="48898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Next — Keaton, on earning trust in production →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33812"/>
            <a:ext cx="158488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12642" y="3833812"/>
            <a:ext cx="799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Keaton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386263"/>
            <a:ext cx="15716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636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Separation of concerns, in production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52500" y="5700713"/>
            <a:ext cx="16383000" cy="9525"/>
          </a:xfrm>
          <a:prstGeom prst="rect">
            <a:avLst/>
          </a:prstGeom>
          <a:solidFill>
            <a:srgbClr val="2C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5976938"/>
            <a:ext cx="1014859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90625" y="6100763"/>
            <a:ext cx="6148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{pins}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119759" y="5976938"/>
            <a:ext cx="1786533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57884" y="6100763"/>
            <a:ext cx="13864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Posit Connect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058692" y="5976938"/>
            <a:ext cx="2167979" cy="4762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6817" y="6100763"/>
            <a:ext cx="17679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Scheduled Quarto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MADE PARALLEL WORK POSSIBLE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57162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887"/>
              </a:lnSpc>
              <a:buNone/>
            </a:pPr>
            <a:r>
              <a:rPr lang="en-US" sz="39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modular backend, decoupled by design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552700"/>
            <a:ext cx="3924300" cy="5772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57300" y="2857500"/>
            <a:ext cx="364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14650" y="3877453"/>
            <a:ext cx="16206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Shiny front end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05400" y="2552700"/>
            <a:ext cx="3924300" cy="5772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10200" y="2857500"/>
            <a:ext cx="364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ORCAstra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10200" y="7820025"/>
            <a:ext cx="36461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{plumber} async API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9258300" y="2552700"/>
            <a:ext cx="3924300" cy="5772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63100" y="2857500"/>
            <a:ext cx="364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ORCAdb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63100" y="7820025"/>
            <a:ext cx="36461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{pins} versioned metadata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3411200" y="2552700"/>
            <a:ext cx="3924300" cy="5772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0" y="2857500"/>
            <a:ext cx="3646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ORCAwatch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0" y="7820025"/>
            <a:ext cx="36461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Scheduled Quarto batch job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52500" y="86296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independently deployable pieces, each with one job — the same separation of concerns that let two companies build without blocking each other.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91059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Blythe's test: would we have designed it this way even if it weren't an AI app? Yes — which is exactly the point.</a:t>
            </a:r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D6D7EB-6449-61F3-B369-C76732323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448050"/>
            <a:ext cx="991226" cy="11445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293A2C-EFA9-609C-9AEB-AF80A9012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4906101"/>
            <a:ext cx="991213" cy="1144556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063D67BE-FEE7-E38D-689B-44D0D9BB528A}"/>
              </a:ext>
            </a:extLst>
          </p:cNvPr>
          <p:cNvSpPr/>
          <p:nvPr/>
        </p:nvSpPr>
        <p:spPr>
          <a:xfrm>
            <a:off x="2914649" y="5007124"/>
            <a:ext cx="1620603" cy="94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i="1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Golem </a:t>
            </a:r>
            <a:r>
              <a:rPr lang="en-US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modularity and maintainability</a:t>
            </a:r>
            <a:endParaRPr lang="en-US" i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EA68473-8B87-A8A5-2328-DC097B8185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288" y="6241157"/>
            <a:ext cx="991213" cy="11446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67125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QUICK ASIDE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514850"/>
            <a:ext cx="1462659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36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 really wanted to dig into AI best practices here.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00" y="5410200"/>
            <a:ext cx="1369580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4516"/>
              </a:lnSpc>
              <a:buNone/>
            </a:pPr>
            <a:r>
              <a:rPr lang="en-US" sz="2100" dirty="0">
                <a:solidFill>
                  <a:srgbClr val="3A4A6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Prompt design, cost control, model versioning — genuinely interesting, and relevant to my new role. But this talk was never really about the AI. It was about the collaboration. Here's where to find it if you're curious.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133600"/>
            <a:ext cx="157162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Trust is a </a:t>
            </a:r>
            <a:r>
              <a:rPr lang="en-US" sz="4200" b="1" dirty="0">
                <a:solidFill>
                  <a:srgbClr val="97C6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joint </a:t>
            </a:r>
            <a:r>
              <a:rPr lang="en-US" sz="42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deliverable.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4767263"/>
            <a:ext cx="10046208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025" dirty="0">
                <a:solidFill>
                  <a:srgbClr val="C3D5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Versioned metadata and an audit trail keep every AI-coded result traceable to a model and a data snapshot. Human judgment stays in the loop at the front end — and it only works because the back end guarantees what's underneath is reproducible.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11239500" y="3390900"/>
            <a:ext cx="6096000" cy="3448050"/>
          </a:xfrm>
          <a:prstGeom prst="rect">
            <a:avLst/>
          </a:prstGeom>
          <a:ln w="9525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16834" b="23247"/>
          <a:stretch/>
        </p:blipFill>
        <p:spPr>
          <a:xfrm>
            <a:off x="11249025" y="3400425"/>
            <a:ext cx="607695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39500" y="6953250"/>
            <a:ext cx="6278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Study context and coding labels — where the researcher's judgment enters the pipeline.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241810" y="7905750"/>
            <a:ext cx="3403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D93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Next — Michael, closing us out →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24325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REAL 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676775"/>
            <a:ext cx="1471612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45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just ORCA — a repeatable model for cross-company collaboration on the Posit stack.</a:t>
            </a:r>
            <a:endParaRPr lang="en-US" sz="4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5A6B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IF YOU'RE BUILDING WITH A PARTNER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67640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3600" dirty="0">
                <a:solidFill>
                  <a:srgbClr val="14264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Bring a design artifact to your next cross-team project — not just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5156150" cy="1800225"/>
          </a:xfrm>
          <a:prstGeom prst="rect">
            <a:avLst/>
          </a:prstGeom>
          <a:solidFill>
            <a:srgbClr val="F0EB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95400" y="2924175"/>
            <a:ext cx="462503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9286"/>
              </a:lnSpc>
              <a:buNone/>
            </a:pPr>
            <a:r>
              <a:rPr lang="en-US" sz="1950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shared visual contract — Mural, Excalidraw, or a whiteboard, before anyone opens an editor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565850" y="2581275"/>
            <a:ext cx="5156150" cy="1800225"/>
          </a:xfrm>
          <a:prstGeom prst="rect">
            <a:avLst/>
          </a:prstGeom>
          <a:solidFill>
            <a:srgbClr val="F0EB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08750" y="2924175"/>
            <a:ext cx="462503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9286"/>
              </a:lnSpc>
              <a:buNone/>
            </a:pPr>
            <a:r>
              <a:rPr lang="en-US" sz="1950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Issue-driven development — a shared source of truth across company lines.  Don’t skimp on detail in your Issues &amp; PR bodies.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179201" y="2581275"/>
            <a:ext cx="5156150" cy="1800225"/>
          </a:xfrm>
          <a:prstGeom prst="rect">
            <a:avLst/>
          </a:prstGeom>
          <a:solidFill>
            <a:srgbClr val="F0EB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22101" y="2924175"/>
            <a:ext cx="462503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9286"/>
              </a:lnSpc>
              <a:buNone/>
            </a:pPr>
            <a:r>
              <a:rPr lang="en-US" sz="1950" dirty="0">
                <a:solidFill>
                  <a:srgbClr val="14264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 architecture — {golem} + {plumber} + {pins} — that lets both sides move independently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4571" y="4652962"/>
            <a:ext cx="323885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4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Thank you</a:t>
            </a:r>
            <a:endParaRPr lang="en-US" sz="5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85" y="9365972"/>
            <a:ext cx="1079599" cy="304800"/>
          </a:xfrm>
          <a:prstGeom prst="rect">
            <a:avLst/>
          </a:prstGeom>
        </p:spPr>
      </p:pic>
      <p:pic>
        <p:nvPicPr>
          <p:cNvPr id="5" name="Picture 4" descr="Ketchbrook Analytics logo with a blue circular pattern.&#10;&#10;AI-generated content may be incorrect.">
            <a:extLst>
              <a:ext uri="{FF2B5EF4-FFF2-40B4-BE49-F238E27FC236}">
                <a16:creationId xmlns:a16="http://schemas.microsoft.com/office/drawing/2014/main" id="{F6CF2E76-B796-9772-1BAE-613E69B38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4218" y="9248217"/>
            <a:ext cx="1845697" cy="540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2533</Words>
  <Application>Microsoft Office PowerPoint</Application>
  <PresentationFormat>Custom</PresentationFormat>
  <Paragraphs>235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Archivo</vt:lpstr>
      <vt:lpstr>Arial</vt:lpstr>
      <vt:lpstr>Avenir Next</vt:lpstr>
      <vt:lpstr>Goudy Old Style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Thomas</cp:lastModifiedBy>
  <cp:revision>12</cp:revision>
  <dcterms:created xsi:type="dcterms:W3CDTF">2026-08-18T22:02:55Z</dcterms:created>
  <dcterms:modified xsi:type="dcterms:W3CDTF">2026-08-24T00:51:09Z</dcterms:modified>
</cp:coreProperties>
</file>
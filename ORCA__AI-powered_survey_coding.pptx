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3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232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3" d="100"/>
          <a:sy n="63" d="100"/>
        </p:scale>
        <p:origin x="39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9571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welcome, introduce the talk and both presenters.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Keaton, opening beat: hold for the laugh. Everyone in this room has been on this team - from group projects in school, to cross-functional committees at companies we work for, and even for business-consultant partnerships developing code and software.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Yes, today's talk involves a Shiny app, but it's really a story about an effective collaboration model between a small team working in Market Research and a data and software development consultants. A model that leveraged UI/UX best practices, a careful and conscious division of labor and a Posit-enriched tech stack to facilitate.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pivot hard. This still happens in industry — a stakeholder handing over a one-paragraph spec with no back-and-forth. ORCA is the opposite story: two companies who had to depend on each other, and made that dependency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the proof is in the pudding. ORCA is now how KS&amp;R's researchers code thousands of open-ended survey responses with AI — in production, in daily use. Swap in a real app screenshot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open-end survey coding is slow, manual, and inconsistent at scale. AI can accelerate it — but internal stakeholders and clients won't accept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ORCA is a collaboration talk, not just a tech talk. KS&amp;R (research firm, backend/infra owner) and Ketchbrook Analytics (consultancy, front-end/UX owner) designed and built this together, across a company boundary, as part of KS&amp;R's DS&amp;I project-teams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why front-end external, back-end in-house? Lower institutional and financial risk for an external partner to touch the AI-spend backend versus the UI. This is a limitation worth naming early, not saving for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two lenses on what follows — Michael on the Shiny front end (job submission, response review, interactive code editing), me on the Posit-based back end (golem, plumber, pins, scheduled workflows). Over to Michael.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takes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shared understanding first. Wireframing sessions in Mural, where UI mockups and API/data shape were sketched in the same room before either side committed to an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KS&amp;R's brand book and design system as a forcing function — it gave the front end constraints early, which gave the back end a stable target: what data the UI would need, in what shape, on what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the key move — translating a research workflow (submit a job, review AI suggestions, edit/approve) into a UI spec and an API contract at the same time, so neither side was guessing about the other's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this is the front end making the back end's life easier — a clear contract, agreed on visually, before a single plumber endpoint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continues into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how the teams worked async across two companies — GitHub Issues and PRs as shared source of truth, a branching model that let front-end and back-end ship independently against the agreed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the architecture that made this possible — a golem-based Shiny app decoupled from a plumber API for asynchronous job processing, so the UI could be built and iterated against a stable API surface while the heavier AI/coding logic evolved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a UX need — live job status, inline editing of AI output — drove a backend design decision (async job handling, structured logging). A backend constraint — batch cost and timing — shaped a front-end pattern (progress states, review queues).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this answers Keaton's opening question directly — why did this collaboration succeed — with receipts, not just an assertion. Over to Keaton for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 takes back over for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modularizing the backend independently from the front end is what made the parallel, non-blocking collaboration possible. ORCAstra for async processing, ORCAdb/pins for versioned metadata, ORCAwatch for scheduled batch logging and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I wanted to dig into AI-specific best practices here — prompt design, cost control, model versioning. But this talk isn't really about the AI, it's about the collaboration. Here's what I want you to know if you're curious — it's all in a repo, QR code TBD.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pins for versioned metadata mean every AI-coded result is traceable to a model version and data snapshot. Scheduled batch workflows leave an audit trail. Ties back to the front end: the categorization spec and context interface is where human judgment stays in the loop — and it only works because the backend guarantees what's underneath is versioned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the real product wasn't just ORCA — it was a repeatable model for cross-company, cross-discipline collaboration on the Posit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if you're building Shiny apps with a partner team — agency/client, research/engineering, frontend/backend — invest early in shared visual contracts, issue-driven development, and an architecture that lets both sides move independently against a stable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Both: thank the audience,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POSIT::CONF(2026)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3886200"/>
            <a:ext cx="1802130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171"/>
              </a:lnSpc>
              <a:buNone/>
            </a:pPr>
            <a:r>
              <a:rPr lang="en-US" sz="9000" dirty="0">
                <a:solidFill>
                  <a:srgbClr val="97C6F2"/>
                </a:solidFill>
                <a:latin typeface="Goudy Old Style" panose="02020502050305020303" pitchFamily="18" charset="77"/>
                <a:ea typeface="Baskerville" panose="02020502070401020303" pitchFamily="18" charset="0"/>
                <a:cs typeface="Source Serif 4" pitchFamily="34" charset="-120"/>
              </a:rPr>
              <a:t>ORCA</a:t>
            </a:r>
            <a:endParaRPr lang="en-US" sz="9000" dirty="0">
              <a:latin typeface="Goudy Old Style" panose="02020502050305020303" pitchFamily="18" charset="77"/>
              <a:ea typeface="Baskerville" panose="02020502070401020303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500" y="5257800"/>
            <a:ext cx="146685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377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a collaboratively-built </a:t>
            </a:r>
            <a:r>
              <a:rPr lang="en-US" sz="3300" b="1" dirty="0">
                <a:solidFill>
                  <a:srgbClr val="FFFFFF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AI-powered Shiny app </a:t>
            </a:r>
            <a:r>
              <a:rPr lang="en-US" sz="330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on Posit Team</a:t>
            </a:r>
            <a:endParaRPr lang="en-US" sz="3300" dirty="0">
              <a:latin typeface="Avenir Next" panose="020B0503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95500" y="8653463"/>
            <a:ext cx="396016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Keaton Wilson</a:t>
            </a:r>
            <a:endParaRPr lang="en-US" sz="2100" dirty="0">
              <a:latin typeface="Avenir Next" panose="020B0503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095500" y="8948738"/>
            <a:ext cx="396016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(Previously) KS&amp;R - Director, Solutions</a:t>
            </a:r>
            <a:endParaRPr lang="en-US" sz="1650" dirty="0">
              <a:latin typeface="Avenir Next" panose="020B0503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895159" y="8629650"/>
            <a:ext cx="9525" cy="571500"/>
          </a:xfrm>
          <a:prstGeom prst="rect">
            <a:avLst/>
          </a:prstGeom>
          <a:solidFill>
            <a:srgbClr val="2C4A6B"/>
          </a:solidFill>
          <a:ln/>
        </p:spPr>
      </p:sp>
      <p:sp>
        <p:nvSpPr>
          <p:cNvPr id="8" name="Text 6"/>
          <p:cNvSpPr/>
          <p:nvPr/>
        </p:nvSpPr>
        <p:spPr>
          <a:xfrm>
            <a:off x="11695361" y="8653463"/>
            <a:ext cx="44971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2100" b="1" dirty="0">
                <a:solidFill>
                  <a:srgbClr val="FFFFFF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Michael Thomas</a:t>
            </a:r>
            <a:endParaRPr lang="en-US" sz="2100" dirty="0">
              <a:latin typeface="Avenir Next" panose="020B0503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695361" y="8948738"/>
            <a:ext cx="44971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7D93B8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Ketchbrook Analytics — Chief Data Scientist</a:t>
            </a:r>
            <a:endParaRPr lang="en-US" sz="1650" dirty="0">
              <a:latin typeface="Avenir Next" panose="020B05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500" y="952500"/>
            <a:ext cx="8382000" cy="8382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96500" y="4176712"/>
            <a:ext cx="79629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LET'S START HERE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096500" y="4729163"/>
            <a:ext cx="7456170" cy="1419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05"/>
              </a:lnSpc>
              <a:buNone/>
            </a:pPr>
            <a:r>
              <a:rPr lang="en-US" sz="45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We've all been </a:t>
            </a:r>
            <a:r>
              <a:rPr lang="en-US" sz="4500" b="1" dirty="0">
                <a:solidFill>
                  <a:srgbClr val="142645"/>
                </a:solidFill>
                <a:latin typeface="Goudy Old Style" panose="02020502050305020303" pitchFamily="18" charset="77"/>
                <a:ea typeface="Archivo" pitchFamily="34" charset="-122"/>
                <a:cs typeface="Archivo" pitchFamily="34" charset="-120"/>
              </a:rPr>
              <a:t>been </a:t>
            </a:r>
            <a:r>
              <a:rPr lang="en-US" sz="45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on this team.</a:t>
            </a:r>
            <a:endParaRPr lang="en-US" sz="4500" dirty="0">
              <a:latin typeface="Goudy Old Style" panose="02020502050305020303" pitchFamily="18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 FAMILIAR FAILURE MODE</a:t>
            </a:r>
            <a:endParaRPr lang="en-US" sz="1800" dirty="0">
              <a:latin typeface="Avenir Next" panose="020B0503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733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598"/>
              </a:lnSpc>
              <a:buNone/>
            </a:pPr>
            <a:r>
              <a:rPr lang="en-US" sz="48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Three ways cross-team builds fall apart</a:t>
            </a:r>
            <a:endParaRPr lang="en-US" sz="4800" dirty="0">
              <a:latin typeface="Goudy Old Style" panose="02020502050305020303" pitchFamily="18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500" y="2886075"/>
            <a:ext cx="556011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4200" dirty="0">
              <a:latin typeface="Avenir Next" panose="020B0503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2500" y="3771900"/>
            <a:ext cx="55601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No clear division of labor</a:t>
            </a:r>
            <a:endParaRPr lang="en-US" sz="2800" dirty="0">
              <a:latin typeface="Avenir Next" panose="020B0503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52500" y="4543893"/>
            <a:ext cx="520628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462"/>
              </a:lnSpc>
              <a:buNone/>
            </a:pPr>
            <a:r>
              <a:rPr lang="en-US" sz="180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One person quietly ends up carrying the whole project.</a:t>
            </a:r>
            <a:endParaRPr lang="en-US" sz="1800" dirty="0">
              <a:latin typeface="Avenir Next" panose="020B0503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616750" y="2886075"/>
            <a:ext cx="556011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4200" dirty="0">
              <a:latin typeface="Avenir Next" panose="020B0503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616750" y="3771900"/>
            <a:ext cx="55601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No shared tooling</a:t>
            </a:r>
            <a:endParaRPr lang="en-US" sz="2800" dirty="0">
              <a:latin typeface="Avenir Next" panose="020B0503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16750" y="4543893"/>
            <a:ext cx="520628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462"/>
              </a:lnSpc>
              <a:buNone/>
            </a:pPr>
            <a:r>
              <a:rPr lang="en-US" sz="180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Work happens in silos, stitched together at the last minute.</a:t>
            </a:r>
            <a:endParaRPr lang="en-US" sz="1800" dirty="0">
              <a:latin typeface="Avenir Next" panose="020B0503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280999" y="2886075"/>
            <a:ext cx="556011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4200" dirty="0">
              <a:latin typeface="Avenir Next" panose="020B0503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280999" y="3771900"/>
            <a:ext cx="55601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No shared goals or guardrails</a:t>
            </a:r>
            <a:endParaRPr lang="en-US" sz="2800" dirty="0">
              <a:latin typeface="Avenir Next" panose="020B0503020202020204" pitchFamily="34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3EFE3561-EEE1-14B0-6A95-140B2A466541}"/>
              </a:ext>
            </a:extLst>
          </p:cNvPr>
          <p:cNvSpPr/>
          <p:nvPr/>
        </p:nvSpPr>
        <p:spPr>
          <a:xfrm>
            <a:off x="12280999" y="4543893"/>
            <a:ext cx="520628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462"/>
              </a:lnSpc>
              <a:buNone/>
            </a:pPr>
            <a:r>
              <a:rPr lang="en-US" sz="180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Different vision, even if division of labor is clear, serving the part and not the whole</a:t>
            </a:r>
            <a:endParaRPr lang="en-US" sz="1800" dirty="0">
              <a:latin typeface="Avenir Next" panose="020B0503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576638"/>
            <a:ext cx="1802130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000" dirty="0">
                <a:solidFill>
                  <a:srgbClr val="97C6F2"/>
                </a:solidFill>
                <a:latin typeface="Goudy Old Style" panose="02020502050305020303" pitchFamily="18" charset="77"/>
                <a:ea typeface="Baskerville" panose="02020502070401020303" pitchFamily="18" charset="0"/>
                <a:cs typeface="Source Serif 4" pitchFamily="34" charset="-120"/>
              </a:rPr>
              <a:t>This wasn't that.</a:t>
            </a:r>
            <a:endParaRPr lang="en-US" sz="6000" dirty="0">
              <a:latin typeface="Goudy Old Style" panose="02020502050305020303" pitchFamily="18" charset="77"/>
              <a:ea typeface="Baskerville" panose="02020502070401020303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5081588"/>
            <a:ext cx="13735050" cy="166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A front-end team and a back-end team, at </a:t>
            </a:r>
            <a:r>
              <a:rPr lang="en-US" sz="2850" b="1" dirty="0">
                <a:solidFill>
                  <a:srgbClr val="97C6F2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two different companies </a:t>
            </a:r>
            <a:r>
              <a:rPr lang="en-US" sz="285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, who had to depend on each other to ship anything at all — and built the collaboration that made that dependency work.</a:t>
            </a:r>
            <a:endParaRPr lang="en-US" sz="2850" dirty="0">
              <a:latin typeface="Avenir Next" panose="020B0503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666750"/>
            <a:ext cx="437026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is </a:t>
            </a:r>
            <a:r>
              <a:rPr lang="en-US" sz="20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ORCA</a:t>
            </a:r>
            <a:r>
              <a:rPr lang="en-US" sz="20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543675" y="1463832"/>
            <a:ext cx="10791825" cy="962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88889"/>
              </a:lnSpc>
              <a:buNone/>
            </a:pPr>
            <a:r>
              <a:rPr lang="en-US" sz="3600" dirty="0">
                <a:solidFill>
                  <a:srgbClr val="142645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ORCA is now how KS&amp;R's researchers code </a:t>
            </a:r>
            <a:r>
              <a:rPr lang="en-US" sz="36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thousands </a:t>
            </a:r>
            <a:r>
              <a:rPr lang="en-US" sz="3600" dirty="0">
                <a:solidFill>
                  <a:srgbClr val="142645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of open-end responses</a:t>
            </a:r>
            <a:endParaRPr lang="en-US" sz="3600" dirty="0">
              <a:latin typeface="Avenir Next" panose="020B0503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52500" y="3219450"/>
            <a:ext cx="3810000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962025" y="3228975"/>
            <a:ext cx="3790950" cy="32602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2500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1287386" y="8364671"/>
            <a:ext cx="1650685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Upload data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114925" y="3219450"/>
            <a:ext cx="3895725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2" r="-2"/>
          <a:stretch/>
        </p:blipFill>
        <p:spPr>
          <a:xfrm>
            <a:off x="5124450" y="3228975"/>
            <a:ext cx="3876675" cy="30517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114925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7"/>
          <p:cNvSpPr/>
          <p:nvPr/>
        </p:nvSpPr>
        <p:spPr>
          <a:xfrm>
            <a:off x="5449812" y="8364671"/>
            <a:ext cx="1799862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 codes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9277350" y="3219450"/>
            <a:ext cx="3895725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1" r="-1"/>
          <a:stretch/>
        </p:blipFill>
        <p:spPr>
          <a:xfrm>
            <a:off x="9286875" y="3228975"/>
            <a:ext cx="3876675" cy="2912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277350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550" dirty="0"/>
          </a:p>
        </p:txBody>
      </p:sp>
      <p:sp>
        <p:nvSpPr>
          <p:cNvPr id="15" name="Text 10"/>
          <p:cNvSpPr/>
          <p:nvPr/>
        </p:nvSpPr>
        <p:spPr>
          <a:xfrm>
            <a:off x="9612236" y="8364671"/>
            <a:ext cx="2262193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 &amp; initiate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3439775" y="3219450"/>
            <a:ext cx="3895725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1" r="-1"/>
          <a:stretch/>
        </p:blipFill>
        <p:spPr>
          <a:xfrm>
            <a:off x="13449300" y="3228975"/>
            <a:ext cx="3876675" cy="332526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439775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</a:t>
            </a:r>
            <a:endParaRPr lang="en-US" sz="2550" dirty="0"/>
          </a:p>
        </p:txBody>
      </p:sp>
      <p:sp>
        <p:nvSpPr>
          <p:cNvPr id="19" name="Text 13"/>
          <p:cNvSpPr/>
          <p:nvPr/>
        </p:nvSpPr>
        <p:spPr>
          <a:xfrm>
            <a:off x="13774662" y="8364671"/>
            <a:ext cx="2066193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Track &amp; pick up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695325"/>
            <a:ext cx="2612529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WHY ORCA EXISTS</a:t>
            </a:r>
            <a:endParaRPr lang="en-US" sz="2000" dirty="0">
              <a:latin typeface="Avenir Next" panose="020B0503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4716125" cy="1314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42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Coding open-end survey responses is slow, manual, and inconsistent at scale</a:t>
            </a:r>
            <a:endParaRPr lang="en-US" sz="4200" dirty="0">
              <a:latin typeface="Goudy Old Style" panose="02020502050305020303" pitchFamily="18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500" y="3238500"/>
            <a:ext cx="127539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6286"/>
              </a:lnSpc>
              <a:buNone/>
            </a:pPr>
            <a:r>
              <a:rPr lang="en-US" sz="2400" dirty="0">
                <a:solidFill>
                  <a:srgbClr val="3A4A63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AI can accelerate the work of categorizing thousands of free-text answers. But for a research firm's internal stakeholders and clients, speed means nothing without trust in the result.</a:t>
            </a:r>
            <a:endParaRPr lang="en-US" sz="2400" dirty="0">
              <a:latin typeface="Avenir Next" panose="020B0503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52500" y="4819650"/>
            <a:ext cx="2069604" cy="609600"/>
          </a:xfrm>
          <a:prstGeom prst="rect">
            <a:avLst/>
          </a:prstGeom>
          <a:ln w="9525">
            <a:solidFill>
              <a:srgbClr val="1426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6825" y="5000625"/>
            <a:ext cx="15171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Transparency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50704" y="4819650"/>
            <a:ext cx="1165771" cy="609600"/>
          </a:xfrm>
          <a:prstGeom prst="rect">
            <a:avLst/>
          </a:prstGeom>
          <a:ln w="9525">
            <a:solidFill>
              <a:srgbClr val="1426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5029" y="5000625"/>
            <a:ext cx="61332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Trust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645075" y="4819650"/>
            <a:ext cx="2223195" cy="609600"/>
          </a:xfrm>
          <a:prstGeom prst="rect">
            <a:avLst/>
          </a:prstGeom>
          <a:ln w="9525">
            <a:solidFill>
              <a:srgbClr val="1426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9400" y="5000625"/>
            <a:ext cx="167074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Reproducibility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499"/>
            <a:ext cx="3094844" cy="6214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 CROSS-COMPANY BUILD</a:t>
            </a:r>
            <a:endParaRPr lang="en-US" sz="2000" dirty="0">
              <a:latin typeface="Avenir Next" panose="020B0503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1757363"/>
            <a:ext cx="1688579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One system, two companies</a:t>
            </a:r>
            <a:endParaRPr lang="en-US" sz="4200" dirty="0">
              <a:latin typeface="Goudy Old Style" panose="02020502050305020303" pitchFamily="18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9016386" y="5924823"/>
            <a:ext cx="344537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+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0499353" y="3567659"/>
            <a:ext cx="6836146" cy="54858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12140036" y="8386761"/>
            <a:ext cx="355477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Consultancy Front-end &amp; UX owner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52500" y="2586038"/>
            <a:ext cx="907592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Built as one of KS&amp;R's DS&amp;I project teams — a research firm and an external consultancy, one shared build.</a:t>
            </a:r>
            <a:endParaRPr lang="en-US" sz="1650" dirty="0">
              <a:latin typeface="Avenir Next" panose="020B0503020202020204" pitchFamily="34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C153258F-AC74-C1F0-7101-A4F5CB527F87}"/>
              </a:ext>
            </a:extLst>
          </p:cNvPr>
          <p:cNvSpPr/>
          <p:nvPr/>
        </p:nvSpPr>
        <p:spPr>
          <a:xfrm>
            <a:off x="952500" y="3567659"/>
            <a:ext cx="6925456" cy="54858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2055214" y="8386761"/>
            <a:ext cx="472002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Research firm Backend &amp; infrastructure owner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DELIBERATE CONSTRAINT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42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Front-end external, back-end in-house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52500" y="2676525"/>
            <a:ext cx="8123301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625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Keeping AI spend, API keys, and job orchestration in-house lowered institutional and financial risk — an external partner touching the backend carries more exposure than one shaping the UI.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448800" y="2676525"/>
            <a:ext cx="8123301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625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also meant Ketchbrook could move fast on the front end without waiting on KS&amp;R's internal security review for every change.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LENSES ON ONE BUILD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809750"/>
            <a:ext cx="8167211" cy="619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Michael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52500" y="2581275"/>
            <a:ext cx="81672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Shiny front end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" y="3019425"/>
            <a:ext cx="8167211" cy="1919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8571"/>
              </a:lnSpc>
              <a:buNone/>
            </a:pP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Job submission, response review, interactive category editing, all with </a:t>
            </a:r>
            <a:r>
              <a:rPr lang="en-US" sz="1950" i="1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golem </a:t>
            </a: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 long term maintainability and modularity.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39238" y="1809750"/>
            <a:ext cx="9525" cy="6057900"/>
          </a:xfrm>
          <a:prstGeom prst="rect">
            <a:avLst/>
          </a:prstGeom>
          <a:solidFill>
            <a:srgbClr val="2C4A6B"/>
          </a:solidFill>
          <a:ln/>
        </p:spPr>
      </p:sp>
      <p:sp>
        <p:nvSpPr>
          <p:cNvPr id="7" name="Text 5"/>
          <p:cNvSpPr/>
          <p:nvPr/>
        </p:nvSpPr>
        <p:spPr>
          <a:xfrm>
            <a:off x="9910763" y="1809750"/>
            <a:ext cx="8167211" cy="619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Keaton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910763" y="2581275"/>
            <a:ext cx="81672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Posit-based back 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10763" y="3019425"/>
            <a:ext cx="8167211" cy="1703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8571"/>
              </a:lnSpc>
              <a:buNone/>
            </a:pPr>
            <a:r>
              <a:rPr lang="en-US" sz="1950" i="1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plumber </a:t>
            </a: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middleware</a:t>
            </a:r>
            <a:r>
              <a:rPr lang="en-US" sz="1950" i="1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, </a:t>
            </a:r>
          </a:p>
          <a:p>
            <a:pPr marL="0" indent="0" algn="l">
              <a:lnSpc>
                <a:spcPct val="148571"/>
              </a:lnSpc>
              <a:buNone/>
            </a:pP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{pins}, and scheduled Quarto workflows.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" y="8172450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</p:sp>
      <p:sp>
        <p:nvSpPr>
          <p:cNvPr id="11" name="Text 9"/>
          <p:cNvSpPr/>
          <p:nvPr/>
        </p:nvSpPr>
        <p:spPr>
          <a:xfrm>
            <a:off x="952500" y="8486775"/>
            <a:ext cx="1687449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throughline: at every stage, a front-end decision made the back-end's job </a:t>
            </a:r>
            <a:r>
              <a:rPr lang="en-US" sz="195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harder or easier </a:t>
            </a: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and vice versa.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717536" y="9086850"/>
            <a:ext cx="6179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— Michael, on designing together before writing code →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33812"/>
            <a:ext cx="157195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541800" y="3833812"/>
            <a:ext cx="8699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Michael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4386263"/>
            <a:ext cx="15716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636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Designing together, before writing a line of code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52500" y="5700713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</p:sp>
      <p:sp>
        <p:nvSpPr>
          <p:cNvPr id="6" name="Shape 4"/>
          <p:cNvSpPr/>
          <p:nvPr/>
        </p:nvSpPr>
        <p:spPr>
          <a:xfrm>
            <a:off x="952500" y="5976938"/>
            <a:ext cx="1000423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90625" y="6100763"/>
            <a:ext cx="60037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Mural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105323" y="5976938"/>
            <a:ext cx="2143125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43448" y="6100763"/>
            <a:ext cx="17430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KS&amp;R brand book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400848" y="5976938"/>
            <a:ext cx="2862263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8973" y="6100763"/>
            <a:ext cx="24718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 system &amp; font files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SHARED UNDERSTANDING, FIRST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8021300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Wireframing before a single line of code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1514260" y="2090728"/>
            <a:ext cx="5861923" cy="170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4516"/>
              </a:lnSpc>
              <a:buNone/>
            </a:pPr>
            <a:r>
              <a:rPr lang="en-US" sz="210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Stakeholder engagement, wireframes and API shape, sketched together in Mural - before either side committed to an implementation.</a:t>
            </a:r>
            <a:endParaRPr lang="en-US" sz="2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688A7-2465-0D1C-0BD2-B309C3E47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58502"/>
            <a:ext cx="7772400" cy="55699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029F01-5139-661B-95E1-6C287629E3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6077" y="4920484"/>
            <a:ext cx="7772400" cy="42825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BADB13-0ED8-9C5A-290A-4E6895EC9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91589" y="6035515"/>
            <a:ext cx="6536648" cy="40419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CONSTRAINTS AS A GIFT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87"/>
              </a:lnSpc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brand book as a forcing function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52500" y="5257800"/>
            <a:ext cx="8162544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Early visual constraints gave the front end a fixed target — which in turn gave the back end a stable target: what data the UI would need, in what shape, on what cadence.</a:t>
            </a:r>
            <a:endParaRPr lang="en-US" sz="22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C1498D-F70A-FF01-8FED-1F03D03F4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1797" y="0"/>
            <a:ext cx="5786203" cy="4479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395CDB4-1490-58F0-64BD-6D9F84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1796" y="2404880"/>
            <a:ext cx="5786203" cy="5705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14ACCCE-3324-48FA-9C25-A65BF09BF5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94898" y="8054841"/>
            <a:ext cx="2893102" cy="22417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C043F3-8135-4008-4EB6-E08D213F4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1797" y="8077272"/>
            <a:ext cx="2893101" cy="22386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3E7D6B2-AF18-07D3-D93C-3E31A46EA5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1796" y="663575"/>
            <a:ext cx="22479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KEY MOVE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8021300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One workflow, two contracts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2705100"/>
            <a:ext cx="7972425" cy="6638925"/>
          </a:xfrm>
          <a:prstGeom prst="rect">
            <a:avLst/>
          </a:prstGeom>
          <a:ln w="9525">
            <a:solidFill>
              <a:srgbClr val="D8D0C6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709" r="2709"/>
          <a:stretch/>
        </p:blipFill>
        <p:spPr>
          <a:xfrm>
            <a:off x="962025" y="2714625"/>
            <a:ext cx="7953375" cy="661987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382125" y="4005262"/>
            <a:ext cx="7953375" cy="6762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9648825" y="4214813"/>
            <a:ext cx="76585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Submit a coding job</a:t>
            </a:r>
            <a:endParaRPr lang="en-US" sz="1875" dirty="0"/>
          </a:p>
        </p:txBody>
      </p:sp>
      <p:sp>
        <p:nvSpPr>
          <p:cNvPr id="8" name="Shape 5"/>
          <p:cNvSpPr/>
          <p:nvPr/>
        </p:nvSpPr>
        <p:spPr>
          <a:xfrm>
            <a:off x="9382125" y="4910138"/>
            <a:ext cx="7953375" cy="6762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9648825" y="5119688"/>
            <a:ext cx="76585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 AI suggestions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9382125" y="5815013"/>
            <a:ext cx="7953375" cy="6762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9648825" y="6024563"/>
            <a:ext cx="76585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Edit &amp; approve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8984456" y="6719888"/>
            <a:ext cx="874871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↓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9382125" y="7386638"/>
            <a:ext cx="3881438" cy="657225"/>
          </a:xfrm>
          <a:prstGeom prst="rect">
            <a:avLst/>
          </a:prstGeom>
          <a:solidFill>
            <a:srgbClr val="142645"/>
          </a:solidFill>
          <a:ln/>
        </p:spPr>
      </p:sp>
      <p:sp>
        <p:nvSpPr>
          <p:cNvPr id="14" name="Text 11"/>
          <p:cNvSpPr/>
          <p:nvPr/>
        </p:nvSpPr>
        <p:spPr>
          <a:xfrm>
            <a:off x="9648825" y="7596187"/>
            <a:ext cx="3464481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UI spec</a:t>
            </a:r>
            <a:endParaRPr lang="en-US" sz="1725" dirty="0"/>
          </a:p>
        </p:txBody>
      </p:sp>
      <p:sp>
        <p:nvSpPr>
          <p:cNvPr id="15" name="Shape 12"/>
          <p:cNvSpPr/>
          <p:nvPr/>
        </p:nvSpPr>
        <p:spPr>
          <a:xfrm>
            <a:off x="13454063" y="7386638"/>
            <a:ext cx="3881438" cy="657225"/>
          </a:xfrm>
          <a:prstGeom prst="rect">
            <a:avLst/>
          </a:prstGeom>
          <a:solidFill>
            <a:srgbClr val="142645"/>
          </a:solidFill>
          <a:ln/>
        </p:spPr>
      </p:sp>
      <p:sp>
        <p:nvSpPr>
          <p:cNvPr id="16" name="Text 13"/>
          <p:cNvSpPr/>
          <p:nvPr/>
        </p:nvSpPr>
        <p:spPr>
          <a:xfrm>
            <a:off x="13720762" y="7596187"/>
            <a:ext cx="3464481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API contract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395788"/>
            <a:ext cx="14716125" cy="1533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1818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contract, agreed on visually, before a single </a:t>
            </a:r>
            <a:r>
              <a:rPr lang="en-US" sz="42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 </a:t>
            </a: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endpoint existed.</a:t>
            </a:r>
            <a:endParaRPr lang="en-US" sz="4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33812"/>
            <a:ext cx="15834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541800" y="3833812"/>
            <a:ext cx="8699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Michael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4386263"/>
            <a:ext cx="15716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636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Building in parallel, without blocking each other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52500" y="5700713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</p:sp>
      <p:sp>
        <p:nvSpPr>
          <p:cNvPr id="6" name="Shape 4"/>
          <p:cNvSpPr/>
          <p:nvPr/>
        </p:nvSpPr>
        <p:spPr>
          <a:xfrm>
            <a:off x="952500" y="5976938"/>
            <a:ext cx="2427536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90625" y="6100763"/>
            <a:ext cx="202748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GitHub Issues &amp; PRs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532436" y="5976938"/>
            <a:ext cx="1202085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70561" y="6100763"/>
            <a:ext cx="80203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{golem}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886920" y="5976938"/>
            <a:ext cx="1391096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5045" y="6100763"/>
            <a:ext cx="99104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WORKING ASYNC, ACROSS COMPANIES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87"/>
              </a:lnSpc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Issues and PRs as the shared source of truth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52500" y="2628900"/>
            <a:ext cx="8123301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GitHub Issues tracked what needed to happen and who owned it — across two companies, with no shared Slack or shared employer.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448800" y="2628900"/>
            <a:ext cx="8123301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branching model let each side ship independently against the agreed contract, and merge without stepping on the other's work.</a:t>
            </a:r>
            <a:endParaRPr lang="en-US" sz="2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ARCHITECTURE THAT MADE IT POSSIBLE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8021300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stable seam between two codebases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2714625"/>
            <a:ext cx="4851350" cy="60674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3016002" y="5300663"/>
            <a:ext cx="8003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607766" y="5681663"/>
            <a:ext cx="169489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{golem} Shiny 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40248" y="6005513"/>
            <a:ext cx="9520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Ketchbrook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108650" y="5519738"/>
            <a:ext cx="3810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⇄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718250" y="2714625"/>
            <a:ext cx="4851350" cy="6067425"/>
          </a:xfrm>
          <a:prstGeom prst="rect">
            <a:avLst/>
          </a:prstGeom>
          <a:solidFill>
            <a:srgbClr val="142645"/>
          </a:solidFill>
          <a:ln/>
        </p:spPr>
      </p:sp>
      <p:sp>
        <p:nvSpPr>
          <p:cNvPr id="10" name="Text 8"/>
          <p:cNvSpPr/>
          <p:nvPr/>
        </p:nvSpPr>
        <p:spPr>
          <a:xfrm>
            <a:off x="8563421" y="5300663"/>
            <a:ext cx="123705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ORCAstra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8554343" y="5681663"/>
            <a:ext cx="1255216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 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07810" y="6005513"/>
            <a:ext cx="54843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KS&amp;R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874401" y="5519738"/>
            <a:ext cx="3810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⇄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2484001" y="2714625"/>
            <a:ext cx="4851350" cy="60674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4475023" y="5453063"/>
            <a:ext cx="9455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OpenAI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4055328" y="5834063"/>
            <a:ext cx="187940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classification engine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52500" y="908685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UI iterated against a stable API surface while the heavier logic behind it kept changing.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WENT BOTH DIRECTIONS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8021300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UX needs and backend constraints, both ways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5062538"/>
            <a:ext cx="4619625" cy="952500"/>
          </a:xfrm>
          <a:prstGeom prst="rect">
            <a:avLst/>
          </a:prstGeom>
          <a:solidFill>
            <a:srgbClr val="F0EBE5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5291138"/>
            <a:ext cx="422481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Live job status &amp; inline editing of AI output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800725" y="5391150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276975" y="5186363"/>
            <a:ext cx="4619625" cy="704850"/>
          </a:xfrm>
          <a:prstGeom prst="rect">
            <a:avLst/>
          </a:prstGeom>
          <a:solidFill>
            <a:srgbClr val="142645"/>
          </a:solidFill>
          <a:ln/>
        </p:spPr>
      </p:sp>
      <p:sp>
        <p:nvSpPr>
          <p:cNvPr id="8" name="Text 6"/>
          <p:cNvSpPr/>
          <p:nvPr/>
        </p:nvSpPr>
        <p:spPr>
          <a:xfrm>
            <a:off x="6543675" y="5414963"/>
            <a:ext cx="42248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Async job handling, structured logging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6281738"/>
            <a:ext cx="4619625" cy="704850"/>
          </a:xfrm>
          <a:prstGeom prst="rect">
            <a:avLst/>
          </a:prstGeom>
          <a:solidFill>
            <a:srgbClr val="142645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6510338"/>
            <a:ext cx="42248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Batch cost &amp; timing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800725" y="6486525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276975" y="6281738"/>
            <a:ext cx="4619625" cy="704850"/>
          </a:xfrm>
          <a:prstGeom prst="rect">
            <a:avLst/>
          </a:prstGeom>
          <a:solidFill>
            <a:srgbClr val="F0EBE5"/>
          </a:solidFill>
          <a:ln/>
        </p:spPr>
      </p:sp>
      <p:sp>
        <p:nvSpPr>
          <p:cNvPr id="13" name="Text 11"/>
          <p:cNvSpPr/>
          <p:nvPr/>
        </p:nvSpPr>
        <p:spPr>
          <a:xfrm>
            <a:off x="6543675" y="6510338"/>
            <a:ext cx="42248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Progress states, review queues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430000" y="2714625"/>
            <a:ext cx="5905500" cy="6086475"/>
          </a:xfrm>
          <a:prstGeom prst="rect">
            <a:avLst/>
          </a:prstGeom>
          <a:ln w="9525">
            <a:solidFill>
              <a:srgbClr val="D8D0C6"/>
            </a:solidFill>
            <a:prstDash val="solid"/>
          </a:ln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8390" r="8390"/>
          <a:stretch/>
        </p:blipFill>
        <p:spPr>
          <a:xfrm>
            <a:off x="11439525" y="2724150"/>
            <a:ext cx="5886450" cy="60674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30000" y="8915400"/>
            <a:ext cx="608266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status table users asked for — and the structured logging behind it.</a:t>
            </a:r>
            <a:endParaRPr lang="en-US" sz="15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71913"/>
            <a:ext cx="15716250" cy="79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1818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 an assertion — </a:t>
            </a:r>
            <a:r>
              <a:rPr lang="en-US" sz="42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receipts.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52500" y="5157788"/>
            <a:ext cx="136207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484"/>
              </a:lnSpc>
              <a:buNone/>
            </a:pPr>
            <a:r>
              <a:rPr lang="en-US" sz="210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Issues, PRs, and a contract everyone could point to — that's why this collaboration held together.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2890153" y="6167438"/>
            <a:ext cx="488988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— Keaton, on earning trust in production →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33812"/>
            <a:ext cx="158488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12642" y="3833812"/>
            <a:ext cx="79905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Keaton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4386263"/>
            <a:ext cx="15716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636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Separation of concerns, in production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52500" y="5700713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</p:sp>
      <p:sp>
        <p:nvSpPr>
          <p:cNvPr id="6" name="Shape 4"/>
          <p:cNvSpPr/>
          <p:nvPr/>
        </p:nvSpPr>
        <p:spPr>
          <a:xfrm>
            <a:off x="952500" y="5976938"/>
            <a:ext cx="1014859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90625" y="6100763"/>
            <a:ext cx="61480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{pins}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119759" y="5976938"/>
            <a:ext cx="1786533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57884" y="6100763"/>
            <a:ext cx="138648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Posit Connect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058692" y="5976938"/>
            <a:ext cx="2167979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6817" y="6100763"/>
            <a:ext cx="176792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Scheduled Quarto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MADE PARALLEL WORK POSSIBLE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87"/>
              </a:lnSpc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modular backend, decoupled by design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914650" y="3877453"/>
            <a:ext cx="162060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Shiny front end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1054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102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ORCAstra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10200" y="7820025"/>
            <a:ext cx="364617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 async API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92583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95631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ORCAdb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63100" y="7820025"/>
            <a:ext cx="364617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{pins} versioned metadata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134112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ORCAwatch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0" y="7820025"/>
            <a:ext cx="364617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Scheduled Quarto batch job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952500" y="862965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Four independently deployable pieces, each with one job — the same separation of concerns that let two companies build without blocking each other.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" y="9105900"/>
            <a:ext cx="180213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Blythe's test: would we have designed it this way even if it weren't an AI app? Yes — which is exactly the point.</a:t>
            </a:r>
            <a:endParaRPr lang="en-US" sz="16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9D6D7EB-6449-61F3-B369-C76732323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3448050"/>
            <a:ext cx="991226" cy="11445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293A2C-EFA9-609C-9AEB-AF80A9012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4906101"/>
            <a:ext cx="991213" cy="1144556"/>
          </a:xfrm>
          <a:prstGeom prst="rect">
            <a:avLst/>
          </a:prstGeom>
        </p:spPr>
      </p:pic>
      <p:sp>
        <p:nvSpPr>
          <p:cNvPr id="20" name="Text 4">
            <a:extLst>
              <a:ext uri="{FF2B5EF4-FFF2-40B4-BE49-F238E27FC236}">
                <a16:creationId xmlns:a16="http://schemas.microsoft.com/office/drawing/2014/main" id="{063D67BE-FEE7-E38D-689B-44D0D9BB528A}"/>
              </a:ext>
            </a:extLst>
          </p:cNvPr>
          <p:cNvSpPr/>
          <p:nvPr/>
        </p:nvSpPr>
        <p:spPr>
          <a:xfrm>
            <a:off x="2914649" y="5007124"/>
            <a:ext cx="1620603" cy="942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i="1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Golem </a:t>
            </a:r>
            <a:r>
              <a:rPr lang="en-US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 modularity and maintainability</a:t>
            </a:r>
            <a:endParaRPr lang="en-US" i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EA68473-8B87-A8A5-2328-DC097B8185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88" y="6241157"/>
            <a:ext cx="991213" cy="114461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667125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QUICK ASIDE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4514850"/>
            <a:ext cx="1462659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545"/>
              </a:lnSpc>
              <a:buNone/>
            </a:pPr>
            <a:r>
              <a:rPr lang="en-US" sz="36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 really wanted to dig into AI best practices here.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52500" y="5410200"/>
            <a:ext cx="13695807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4516"/>
              </a:lnSpc>
              <a:buNone/>
            </a:pPr>
            <a:r>
              <a:rPr lang="en-US" sz="210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Prompt design, cost control, model versioning — genuinely interesting, and relevant to my new role. But this talk was never really about the AI. It was about the collaboration. Here's where to find it if you're curious.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2133600"/>
            <a:ext cx="1571625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182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Trust is a </a:t>
            </a:r>
            <a:r>
              <a:rPr lang="en-US" sz="42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joint </a:t>
            </a: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deliverable.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52500" y="4767263"/>
            <a:ext cx="10046208" cy="1266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2025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Versioned metadata and an audit trail keep every AI-coded result traceable to a model and a data snapshot. Human judgment stays in the loop at the front end — and it only works because the back end guarantees what's underneath is reproducible.</a:t>
            </a:r>
            <a:endParaRPr lang="en-US" sz="2025" dirty="0"/>
          </a:p>
        </p:txBody>
      </p:sp>
      <p:sp>
        <p:nvSpPr>
          <p:cNvPr id="4" name="Shape 2"/>
          <p:cNvSpPr/>
          <p:nvPr/>
        </p:nvSpPr>
        <p:spPr>
          <a:xfrm>
            <a:off x="11239500" y="3390900"/>
            <a:ext cx="6096000" cy="34480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16834" b="23247"/>
          <a:stretch/>
        </p:blipFill>
        <p:spPr>
          <a:xfrm>
            <a:off x="11249025" y="3400425"/>
            <a:ext cx="607695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39500" y="6953250"/>
            <a:ext cx="6278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Study context and coding labels — where the researcher's judgment enters the pipeline.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241810" y="7905750"/>
            <a:ext cx="340305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— Michael, closing us out →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124325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REAL PRODUCT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4676775"/>
            <a:ext cx="14716125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122"/>
              </a:lnSpc>
              <a:buNone/>
            </a:pPr>
            <a:r>
              <a:rPr lang="en-US" sz="45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 just ORCA — a repeatable model for cross-company collaboration on the Posit stack.</a:t>
            </a:r>
            <a:endParaRPr lang="en-US" sz="4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IF YOU'RE BUILDING WITH A PARTNER 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6764000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36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Bring a design artifact to your next cross-team project — not just code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2581275"/>
            <a:ext cx="5156150" cy="1800225"/>
          </a:xfrm>
          <a:prstGeom prst="rect">
            <a:avLst/>
          </a:prstGeom>
          <a:solidFill>
            <a:srgbClr val="F0EBE5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24175"/>
            <a:ext cx="462503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shared visual contract — Mural, Excalidraw, or a whiteboard, before anyone opens an editor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65850" y="2581275"/>
            <a:ext cx="5156150" cy="1800225"/>
          </a:xfrm>
          <a:prstGeom prst="rect">
            <a:avLst/>
          </a:prstGeom>
          <a:solidFill>
            <a:srgbClr val="F0EBE5"/>
          </a:solidFill>
          <a:ln/>
        </p:spPr>
      </p:sp>
      <p:sp>
        <p:nvSpPr>
          <p:cNvPr id="7" name="Text 5"/>
          <p:cNvSpPr/>
          <p:nvPr/>
        </p:nvSpPr>
        <p:spPr>
          <a:xfrm>
            <a:off x="6908750" y="2924175"/>
            <a:ext cx="462503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Issue-driven development — a shared source of truth across company lines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2179201" y="2581275"/>
            <a:ext cx="5156150" cy="1800225"/>
          </a:xfrm>
          <a:prstGeom prst="rect">
            <a:avLst/>
          </a:prstGeom>
          <a:solidFill>
            <a:srgbClr val="F0EBE5"/>
          </a:solidFill>
          <a:ln/>
        </p:spPr>
      </p:sp>
      <p:sp>
        <p:nvSpPr>
          <p:cNvPr id="9" name="Text 7"/>
          <p:cNvSpPr/>
          <p:nvPr/>
        </p:nvSpPr>
        <p:spPr>
          <a:xfrm>
            <a:off x="12522101" y="2924175"/>
            <a:ext cx="462503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architecture — {golem} + {plumber} + {pins} — that lets both sides move independently</a:t>
            </a:r>
            <a:endParaRPr lang="en-US" sz="1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71792" y="3452813"/>
            <a:ext cx="3238857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Thank you</a:t>
            </a:r>
            <a:endParaRPr lang="en-US" sz="5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6900" y="9029700"/>
            <a:ext cx="1079599" cy="30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2087</Words>
  <Application>Microsoft Macintosh PowerPoint</Application>
  <PresentationFormat>Custom</PresentationFormat>
  <Paragraphs>200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Archivo</vt:lpstr>
      <vt:lpstr>Arial</vt:lpstr>
      <vt:lpstr>Avenir Next</vt:lpstr>
      <vt:lpstr>Calibri</vt:lpstr>
      <vt:lpstr>Goudy Old Style</vt:lpstr>
      <vt:lpstr>Source Serif 4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Wilson, Jerome K - (keatonwilson)</cp:lastModifiedBy>
  <cp:revision>3</cp:revision>
  <dcterms:created xsi:type="dcterms:W3CDTF">2026-08-18T22:02:55Z</dcterms:created>
  <dcterms:modified xsi:type="dcterms:W3CDTF">2026-08-19T02:41:27Z</dcterms:modified>
</cp:coreProperties>
</file>
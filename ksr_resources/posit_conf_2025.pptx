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9" r:id="rId8"/>
    <p:sldId id="272" r:id="rId9"/>
    <p:sldId id="265" r:id="rId10"/>
    <p:sldId id="271" r:id="rId11"/>
    <p:sldId id="274" r:id="rId12"/>
    <p:sldId id="264" r:id="rId13"/>
    <p:sldId id="273" r:id="rId14"/>
    <p:sldId id="266" r:id="rId15"/>
    <p:sldId id="267" r:id="rId16"/>
    <p:sldId id="25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5759"/>
    <a:srgbClr val="F7E2D7"/>
    <a:srgbClr val="AFC4B1"/>
    <a:srgbClr val="EDAFB8"/>
    <a:srgbClr val="DFDB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79725" autoAdjust="0"/>
  </p:normalViewPr>
  <p:slideViewPr>
    <p:cSldViewPr snapToGrid="0">
      <p:cViewPr varScale="1">
        <p:scale>
          <a:sx n="85" d="100"/>
          <a:sy n="85" d="100"/>
        </p:scale>
        <p:origin x="83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5BAF1-EB31-3D46-8815-F1BB649FD10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D0A50-02E5-6047-A51A-294F64012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56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w/ standard intro – KS&amp;R Info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We’re a 43-year-old Market Research and Consulting Company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variety of data and research focused solutions across different sectors and clients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 work as a Solutions Developer in Decision Sciences and Innovation, which handles survey design and development, statistical analyses and automation and AI solutions.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These data are often the result of surveys (frequently online), with a variety of question types (open ends, multi-select, single-select, etc.)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Sample sizes range from dozens to thousands of respondents per project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0A50-02E5-6047-A51A-294F64012A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25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0A50-02E5-6047-A51A-294F64012A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48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least we have a recipe! Sometimes the recipe only lives in the head of a single person at your company!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0A50-02E5-6047-A51A-294F64012A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36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gracefully to hurdles in the next slide – this is the how, but the reality is that the best laid plans are never really enough.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0A50-02E5-6047-A51A-294F64012A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13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a foundation, some infrastructure. But there were hurdles!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0A50-02E5-6047-A51A-294F64012A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0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Remind people that this lives in the main automation script. We wanted to put it in a single place for ease. </a:t>
            </a:r>
            <a:br>
              <a:rPr lang="en-US" dirty="0"/>
            </a:br>
            <a:r>
              <a:rPr lang="en-US" dirty="0"/>
              <a:t>2. Liberal use of cli in development at KS&amp;R – useful way to give end users quick feedback about what is going right (or wrong) in a script they’re running</a:t>
            </a:r>
            <a:br>
              <a:rPr lang="en-US" dirty="0"/>
            </a:br>
            <a:r>
              <a:rPr lang="en-US" dirty="0"/>
              <a:t>3. A few custom functions here, nothing fancy, just some more bespoke cleaning happening on the backend that is better tucked away into a module or two</a:t>
            </a:r>
          </a:p>
          <a:p>
            <a:r>
              <a:rPr lang="en-US" dirty="0"/>
              <a:t>4. Skipping library calls at the 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0A50-02E5-6047-A51A-294F64012A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652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should we care about the design of a simple PDF? </a:t>
            </a:r>
          </a:p>
          <a:p>
            <a:r>
              <a:rPr lang="en-US" dirty="0"/>
              <a:t>Close with transition – what we did was really minimal – these are not crazy changes, and this is not the most beautiful, creative, pdf-report in the world.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0A50-02E5-6047-A51A-294F64012AC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46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some blank/white spaces are due to redaction/anonymization.</a:t>
            </a:r>
            <a:br>
              <a:rPr lang="en-US" dirty="0"/>
            </a:br>
            <a:r>
              <a:rPr lang="en-US" dirty="0"/>
              <a:t>Old design vs New</a:t>
            </a:r>
          </a:p>
          <a:p>
            <a:r>
              <a:rPr lang="en-US" dirty="0"/>
              <a:t>Small changes, really, but some nice touches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0A50-02E5-6047-A51A-294F64012AC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2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I’m not a LaTeX expert, and we don’t really have anyone at our company that is. </a:t>
            </a:r>
            <a:br>
              <a:rPr lang="en-US" dirty="0"/>
            </a:br>
            <a:r>
              <a:rPr lang="en-US" dirty="0"/>
              <a:t>This makes this portion brittle. </a:t>
            </a:r>
          </a:p>
          <a:p>
            <a:r>
              <a:rPr lang="en-US" dirty="0"/>
              <a:t>On our roadmap – lots of great talks on </a:t>
            </a:r>
            <a:r>
              <a:rPr lang="en-US" dirty="0" err="1"/>
              <a:t>typst</a:t>
            </a:r>
            <a:r>
              <a:rPr lang="en-US" dirty="0"/>
              <a:t> and integration into Quarto last year (and this year) – something we’d actively like to investigate, test and implement. </a:t>
            </a:r>
            <a:br>
              <a:rPr lang="en-US" dirty="0"/>
            </a:br>
            <a:r>
              <a:rPr lang="en-US" dirty="0"/>
              <a:t>Beauty of this reproducible new approach is that we can do this from year-to-year, but roll back if we have to.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0A50-02E5-6047-A51A-294F64012A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590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away – the open-source tooling helped, but people and process mattered as much or more!</a:t>
            </a:r>
          </a:p>
          <a:p>
            <a:r>
              <a:rPr lang="en-US" dirty="0"/>
              <a:t>Cust down report-preparation time by 50%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0A50-02E5-6047-A51A-294F64012AC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584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0A50-02E5-6047-A51A-294F64012AC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32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D0A50-02E5-6047-A51A-294F64012AC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528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2A4CD-EF98-C528-509D-9B6CB17D7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77D20-EC2B-B9D3-B46A-A4679934A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3640F-F6A2-7217-A1AA-777C46766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61CE-453D-CE4D-AF62-9245C088AF78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1F637-3256-E1F3-E379-521737C4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8D96C-C114-EFB2-B0A8-CD0D28C58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0191-CC9B-1148-96D5-BE15633A6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45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0F38-4BD5-A7FD-22E1-F7B80305F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73AC9-A128-31A0-D6CA-0A6668E34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E805C-597E-F362-B055-2D52C8B10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61CE-453D-CE4D-AF62-9245C088AF78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E159F-520D-E93A-DB90-6E25E779B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306DE-0506-4C68-C865-31645E65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0191-CC9B-1148-96D5-BE15633A6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1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516B-D60B-096D-CDD6-0AB932610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815BC-72BD-2E91-1083-FBEEF004A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DDDF1-441E-5F78-02B3-9140929CE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61CE-453D-CE4D-AF62-9245C088AF78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1A9DD-DA89-79A5-FB0E-6C66DED81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7DBE1-37B4-4B92-BEBE-EDD49D1C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0191-CC9B-1148-96D5-BE15633A6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71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CEE88-BA2C-C7A9-2453-D6003D5B1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32CF-BF06-0EBD-C742-71AF26C5D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751B0-B977-ABEE-7574-FCC20DCED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752A7-F2A6-5E7E-5674-86256558E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61CE-453D-CE4D-AF62-9245C088AF78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ABD3E-B62A-201C-55FC-65607B2E5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E4640-8C17-7B65-0C58-BD2788BE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0191-CC9B-1148-96D5-BE15633A6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22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487AB-F0DD-9BB1-3F18-C58133CB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65F3C-3FCB-373D-06C7-752334558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C1E81-B760-AE60-A2AA-5B6CB3F2E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5B1DE9-749C-6201-618C-A63FD03AA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5C330B-4755-83DB-5194-DE431A809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4D96C3-1CD8-9EF1-5E07-F88027758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61CE-453D-CE4D-AF62-9245C088AF78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E5D10-F5BA-950E-3A6C-AF3BD4A79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F7AF6-28A3-98F5-D344-A7AEF607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0191-CC9B-1148-96D5-BE15633A6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8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C15D-DE0A-E96B-B595-16DF36383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E201E-0A32-2FEF-EC53-B996CCC4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61CE-453D-CE4D-AF62-9245C088AF78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3DEB3-A74A-8C69-00F8-AF1D85144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6CE56-0A58-457A-38A9-BB65C953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0191-CC9B-1148-96D5-BE15633A6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05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7928BA-C39F-5B51-6DC2-F32892D3B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61CE-453D-CE4D-AF62-9245C088AF78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ABD6A-7331-DD71-2738-14F88BC5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3D350-517B-3505-4D92-1DFE23A6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0191-CC9B-1148-96D5-BE15633A6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0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6AB9F-F615-FE67-5E4D-47DC03161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BCC93-F845-55C9-BA5A-6F22AD01C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053A2-01AE-535B-7AB8-BD0F599AA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6303D-0566-3DB1-1CDA-E46B6659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61CE-453D-CE4D-AF62-9245C088AF78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368A7-5529-2B8B-D289-A5EA665C9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344FC-CE51-237E-7657-C12E774C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0191-CC9B-1148-96D5-BE15633A6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26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A4CB-FDA3-7198-C6FE-147CFFDAB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A3C0EA-CE83-2A7D-A283-39BC91B19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6C394-845D-69A9-9104-1997FC8B1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23D3F-A9AE-07E5-3C99-5C3B44383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61CE-453D-CE4D-AF62-9245C088AF78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9C9A9-FA03-ED75-AD02-A5C1ADCF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CFC10-8B7C-86B4-A5D0-6EC35FACA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0191-CC9B-1148-96D5-BE15633A6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56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8DCC-DA83-FB1C-98A3-8B1BC5B6A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79867-93BC-0D0E-AAEE-22DF14623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27A38-956C-CFE5-74C0-9746686C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61CE-453D-CE4D-AF62-9245C088AF78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84197-D68B-A4FD-8A30-348CF373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0821D-BA77-4F52-1CE0-D8F0522F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0191-CC9B-1148-96D5-BE15633A6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7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480E3B-6A74-3D89-714F-C27CBE71D1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6A6C8-113D-6CC6-D32D-554B41A5E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2431F-C5D4-33B5-0962-FA0ED4221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61CE-453D-CE4D-AF62-9245C088AF78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BC528-82D9-1520-A31B-CF5382EB7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8E01C-9164-1D1A-18E6-8ACA94EB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90191-CC9B-1148-96D5-BE15633A6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12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21044-F870-FB1F-99EF-40E3C3535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529D9-3564-FF38-4185-E71668276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20239-BA05-04FF-CE4C-8A9DCE334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861CE-453D-CE4D-AF62-9245C088AF78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276A0-5D44-6DF3-79BA-3E99DD613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74618-F692-6EC2-3EE3-B53807202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90191-CC9B-1148-96D5-BE15633A6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9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svg"/><Relationship Id="rId3" Type="http://schemas.openxmlformats.org/officeDocument/2006/relationships/image" Target="../media/image4.jpe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54.sv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5.jpeg"/><Relationship Id="rId9" Type="http://schemas.openxmlformats.org/officeDocument/2006/relationships/image" Target="../media/image5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7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jpg"/><Relationship Id="rId5" Type="http://schemas.openxmlformats.org/officeDocument/2006/relationships/image" Target="../media/image59.jpg"/><Relationship Id="rId10" Type="http://schemas.openxmlformats.org/officeDocument/2006/relationships/image" Target="../media/image62.jpg"/><Relationship Id="rId4" Type="http://schemas.openxmlformats.org/officeDocument/2006/relationships/image" Target="../media/image58.jp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8F85D9-BD64-E4FD-6DC2-00B059555F92}"/>
              </a:ext>
            </a:extLst>
          </p:cNvPr>
          <p:cNvSpPr txBox="1"/>
          <p:nvPr/>
        </p:nvSpPr>
        <p:spPr>
          <a:xfrm>
            <a:off x="706973" y="382012"/>
            <a:ext cx="84643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0" u="none" strike="noStrike" dirty="0">
                <a:solidFill>
                  <a:srgbClr val="495759"/>
                </a:solidFill>
                <a:effectLst/>
                <a:latin typeface="Tobias Light" pitchFamily="50" charset="0"/>
              </a:rPr>
              <a:t>Using Quarto to Improve Formatting and Automate the Generation of Hundreds of Reports</a:t>
            </a:r>
            <a:endParaRPr lang="en-US" sz="4800" b="1" dirty="0">
              <a:solidFill>
                <a:srgbClr val="495759"/>
              </a:solidFill>
              <a:latin typeface="Tobias Light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2F9DB-DF27-31B8-F9A4-C3AADA373FF5}"/>
              </a:ext>
            </a:extLst>
          </p:cNvPr>
          <p:cNvSpPr txBox="1"/>
          <p:nvPr/>
        </p:nvSpPr>
        <p:spPr>
          <a:xfrm>
            <a:off x="706973" y="3747444"/>
            <a:ext cx="6298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Keaton Wilson – Solutions Developer – KS&amp;R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2A1DA4-3678-804E-64AC-79C76FE16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011" y="4878004"/>
            <a:ext cx="815545" cy="8155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E9139B-46A9-4748-777A-DF501E90E9A4}"/>
              </a:ext>
            </a:extLst>
          </p:cNvPr>
          <p:cNvSpPr txBox="1"/>
          <p:nvPr/>
        </p:nvSpPr>
        <p:spPr>
          <a:xfrm>
            <a:off x="9928961" y="5112093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Connect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7C5645-0BFD-8910-C6A8-F35C27514B03}"/>
              </a:ext>
            </a:extLst>
          </p:cNvPr>
          <p:cNvSpPr txBox="1"/>
          <p:nvPr/>
        </p:nvSpPr>
        <p:spPr>
          <a:xfrm>
            <a:off x="9280579" y="6062545"/>
            <a:ext cx="1698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GitHub </a:t>
            </a:r>
            <a:r>
              <a:rPr lang="en-US" dirty="0" err="1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Reprex</a:t>
            </a:r>
            <a:endParaRPr lang="en-US" dirty="0">
              <a:solidFill>
                <a:srgbClr val="495759"/>
              </a:solidFill>
              <a:latin typeface="Söhne" panose="020B0503030202060203" pitchFamily="34" charset="0"/>
              <a:ea typeface="Geneva" panose="020B0503030404040204" pitchFamily="34" charset="0"/>
            </a:endParaRPr>
          </a:p>
        </p:txBody>
      </p:sp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12BB573-E432-4014-BBE1-35457C300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8525" y="5802883"/>
            <a:ext cx="888656" cy="888656"/>
          </a:xfrm>
          <a:prstGeom prst="rect">
            <a:avLst/>
          </a:prstGeom>
        </p:spPr>
      </p:pic>
      <p:pic>
        <p:nvPicPr>
          <p:cNvPr id="13" name="Picture 12" descr="Blue letters and numbers on a black background&#10;&#10;AI-generated content may be incorrect.">
            <a:extLst>
              <a:ext uri="{FF2B5EF4-FFF2-40B4-BE49-F238E27FC236}">
                <a16:creationId xmlns:a16="http://schemas.microsoft.com/office/drawing/2014/main" id="{F4CB4250-42CB-A661-A892-2BA46DBED1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819" y="6404195"/>
            <a:ext cx="1012089" cy="28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8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B95D71-1A65-E146-7A01-5B662F0832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208" t="9190" r="21491" b="9730"/>
          <a:stretch/>
        </p:blipFill>
        <p:spPr>
          <a:xfrm>
            <a:off x="6334899" y="648727"/>
            <a:ext cx="3101546" cy="55605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D9731C-A03D-899D-4D04-33B8872D6B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643" t="7387" r="18849" b="5585"/>
          <a:stretch/>
        </p:blipFill>
        <p:spPr>
          <a:xfrm>
            <a:off x="2755555" y="444841"/>
            <a:ext cx="3472249" cy="596831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F5C3004-1C80-DF92-E808-C690E7EE1F6D}"/>
              </a:ext>
            </a:extLst>
          </p:cNvPr>
          <p:cNvGrpSpPr/>
          <p:nvPr/>
        </p:nvGrpSpPr>
        <p:grpSpPr>
          <a:xfrm>
            <a:off x="290385" y="361431"/>
            <a:ext cx="11722444" cy="5779872"/>
            <a:chOff x="290385" y="361431"/>
            <a:chExt cx="11722444" cy="577987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22F0691-B5ED-3597-D01B-E8C17805602A}"/>
                </a:ext>
              </a:extLst>
            </p:cNvPr>
            <p:cNvSpPr/>
            <p:nvPr/>
          </p:nvSpPr>
          <p:spPr>
            <a:xfrm>
              <a:off x="2502240" y="361431"/>
              <a:ext cx="1989439" cy="574592"/>
            </a:xfrm>
            <a:prstGeom prst="roundRect">
              <a:avLst/>
            </a:prstGeom>
            <a:solidFill>
              <a:srgbClr val="495759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8C32D4B-D1C6-7804-D73C-21D35793C85A}"/>
                </a:ext>
              </a:extLst>
            </p:cNvPr>
            <p:cNvCxnSpPr>
              <a:cxnSpLocks/>
              <a:stCxn id="7" idx="1"/>
              <a:endCxn id="11" idx="3"/>
            </p:cNvCxnSpPr>
            <p:nvPr/>
          </p:nvCxnSpPr>
          <p:spPr>
            <a:xfrm flipH="1">
              <a:off x="1921475" y="648727"/>
              <a:ext cx="580765" cy="0"/>
            </a:xfrm>
            <a:prstGeom prst="line">
              <a:avLst/>
            </a:prstGeom>
            <a:ln w="12700">
              <a:solidFill>
                <a:srgbClr val="4957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DE650D3-923A-CA47-B1F5-2F34D2630F92}"/>
                </a:ext>
              </a:extLst>
            </p:cNvPr>
            <p:cNvSpPr txBox="1"/>
            <p:nvPr/>
          </p:nvSpPr>
          <p:spPr>
            <a:xfrm>
              <a:off x="302740" y="464061"/>
              <a:ext cx="16187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495759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Hard to read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6EA3E525-62A7-F11F-A89E-7F696A62FFC9}"/>
                </a:ext>
              </a:extLst>
            </p:cNvPr>
            <p:cNvSpPr/>
            <p:nvPr/>
          </p:nvSpPr>
          <p:spPr>
            <a:xfrm>
              <a:off x="6401829" y="2860582"/>
              <a:ext cx="1476630" cy="574592"/>
            </a:xfrm>
            <a:prstGeom prst="roundRect">
              <a:avLst/>
            </a:prstGeom>
            <a:solidFill>
              <a:srgbClr val="495759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4457EDA-C206-D7E4-E78A-2DF13ABFC0EB}"/>
                </a:ext>
              </a:extLst>
            </p:cNvPr>
            <p:cNvSpPr txBox="1"/>
            <p:nvPr/>
          </p:nvSpPr>
          <p:spPr>
            <a:xfrm>
              <a:off x="654905" y="1666785"/>
              <a:ext cx="1266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495759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Self-edits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FDD5479E-7088-E02D-7C67-026F18291770}"/>
                </a:ext>
              </a:extLst>
            </p:cNvPr>
            <p:cNvSpPr/>
            <p:nvPr/>
          </p:nvSpPr>
          <p:spPr>
            <a:xfrm>
              <a:off x="2866768" y="2733924"/>
              <a:ext cx="1816440" cy="574592"/>
            </a:xfrm>
            <a:prstGeom prst="roundRect">
              <a:avLst/>
            </a:prstGeom>
            <a:solidFill>
              <a:srgbClr val="495759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B25968-3F39-590C-5578-DFFA607C7B13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>
              <a:off x="2063578" y="3021220"/>
              <a:ext cx="803190" cy="0"/>
            </a:xfrm>
            <a:prstGeom prst="line">
              <a:avLst/>
            </a:prstGeom>
            <a:ln w="12700">
              <a:solidFill>
                <a:srgbClr val="4957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861DBE0-EE32-D870-2F6C-7994C9FDD10B}"/>
                </a:ext>
              </a:extLst>
            </p:cNvPr>
            <p:cNvSpPr txBox="1"/>
            <p:nvPr/>
          </p:nvSpPr>
          <p:spPr>
            <a:xfrm>
              <a:off x="577677" y="2698054"/>
              <a:ext cx="17608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495759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Ambiguous instructions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5D1CFAFE-F071-C11A-2A9F-E7889CA082E5}"/>
                </a:ext>
              </a:extLst>
            </p:cNvPr>
            <p:cNvSpPr/>
            <p:nvPr/>
          </p:nvSpPr>
          <p:spPr>
            <a:xfrm>
              <a:off x="4423719" y="4743786"/>
              <a:ext cx="1816440" cy="574592"/>
            </a:xfrm>
            <a:prstGeom prst="roundRect">
              <a:avLst/>
            </a:prstGeom>
            <a:solidFill>
              <a:srgbClr val="495759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F55F7B4-DF25-6AEE-B5EE-922082A2C234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flipH="1">
              <a:off x="2063578" y="5031082"/>
              <a:ext cx="2360141" cy="0"/>
            </a:xfrm>
            <a:prstGeom prst="line">
              <a:avLst/>
            </a:prstGeom>
            <a:ln w="12700">
              <a:solidFill>
                <a:srgbClr val="4957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D86809A-54F6-6F56-B13F-DAC99B16B3FB}"/>
                </a:ext>
              </a:extLst>
            </p:cNvPr>
            <p:cNvSpPr txBox="1"/>
            <p:nvPr/>
          </p:nvSpPr>
          <p:spPr>
            <a:xfrm>
              <a:off x="290385" y="4569417"/>
              <a:ext cx="176083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495759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Retro or hard-to-find components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96B7EBF-8803-263E-B2B4-ECDAEAC481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12208" y="1907052"/>
              <a:ext cx="2378676" cy="0"/>
            </a:xfrm>
            <a:prstGeom prst="line">
              <a:avLst/>
            </a:prstGeom>
            <a:ln w="12700">
              <a:solidFill>
                <a:srgbClr val="4957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134051C-BF17-A487-F46F-D2A3875FD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3315" y="3147878"/>
              <a:ext cx="2378676" cy="0"/>
            </a:xfrm>
            <a:prstGeom prst="line">
              <a:avLst/>
            </a:prstGeom>
            <a:ln w="12700">
              <a:solidFill>
                <a:srgbClr val="4957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6FE05CB0-3B70-3507-C1EC-FCA98908F82C}"/>
                </a:ext>
              </a:extLst>
            </p:cNvPr>
            <p:cNvSpPr/>
            <p:nvPr/>
          </p:nvSpPr>
          <p:spPr>
            <a:xfrm>
              <a:off x="4290884" y="1642413"/>
              <a:ext cx="1476630" cy="574592"/>
            </a:xfrm>
            <a:prstGeom prst="roundRect">
              <a:avLst/>
            </a:prstGeom>
            <a:solidFill>
              <a:srgbClr val="495759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B8C0DF3-FAB5-D0DE-1DFA-4F9DF7667CA4}"/>
                </a:ext>
              </a:extLst>
            </p:cNvPr>
            <p:cNvSpPr txBox="1"/>
            <p:nvPr/>
          </p:nvSpPr>
          <p:spPr>
            <a:xfrm>
              <a:off x="10251991" y="2824712"/>
              <a:ext cx="17608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495759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Scaling challenges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9442592E-0AC6-7E38-DDC5-D9F6B289D53A}"/>
                </a:ext>
              </a:extLst>
            </p:cNvPr>
            <p:cNvSpPr/>
            <p:nvPr/>
          </p:nvSpPr>
          <p:spPr>
            <a:xfrm>
              <a:off x="6382267" y="4343900"/>
              <a:ext cx="757877" cy="1797403"/>
            </a:xfrm>
            <a:prstGeom prst="roundRect">
              <a:avLst/>
            </a:prstGeom>
            <a:solidFill>
              <a:srgbClr val="495759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AF1274F-C56B-83CD-1E44-A63CCA402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2509" y="5286279"/>
              <a:ext cx="2378676" cy="0"/>
            </a:xfrm>
            <a:prstGeom prst="line">
              <a:avLst/>
            </a:prstGeom>
            <a:ln w="12700">
              <a:solidFill>
                <a:srgbClr val="4957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969AA28-EFE9-EE05-D270-76561D2F9976}"/>
                </a:ext>
              </a:extLst>
            </p:cNvPr>
            <p:cNvSpPr txBox="1"/>
            <p:nvPr/>
          </p:nvSpPr>
          <p:spPr>
            <a:xfrm>
              <a:off x="9531185" y="4963113"/>
              <a:ext cx="17608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495759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Can’t ask for clarification</a:t>
              </a:r>
            </a:p>
          </p:txBody>
        </p:sp>
      </p:grpSp>
      <p:sp>
        <p:nvSpPr>
          <p:cNvPr id="3" name="Rounded Rectangle 31">
            <a:extLst>
              <a:ext uri="{FF2B5EF4-FFF2-40B4-BE49-F238E27FC236}">
                <a16:creationId xmlns:a16="http://schemas.microsoft.com/office/drawing/2014/main" id="{6136303B-4FD1-F0BB-5AE7-30436FC4B90A}"/>
              </a:ext>
            </a:extLst>
          </p:cNvPr>
          <p:cNvSpPr/>
          <p:nvPr/>
        </p:nvSpPr>
        <p:spPr>
          <a:xfrm>
            <a:off x="3898555" y="2297364"/>
            <a:ext cx="1010902" cy="325352"/>
          </a:xfrm>
          <a:prstGeom prst="roundRect">
            <a:avLst/>
          </a:prstGeom>
          <a:solidFill>
            <a:srgbClr val="495759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7E346F-2EA6-CF05-F5DA-0124BB9FF98A}"/>
              </a:ext>
            </a:extLst>
          </p:cNvPr>
          <p:cNvCxnSpPr>
            <a:cxnSpLocks/>
            <a:stCxn id="3" idx="1"/>
            <a:endCxn id="11" idx="3"/>
          </p:cNvCxnSpPr>
          <p:nvPr/>
        </p:nvCxnSpPr>
        <p:spPr>
          <a:xfrm flipH="1" flipV="1">
            <a:off x="1921475" y="648727"/>
            <a:ext cx="1977080" cy="1811313"/>
          </a:xfrm>
          <a:prstGeom prst="line">
            <a:avLst/>
          </a:prstGeom>
          <a:ln w="12700">
            <a:solidFill>
              <a:srgbClr val="495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62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A39DB1-FE19-1AE7-1D09-72DA1E08C21F}"/>
              </a:ext>
            </a:extLst>
          </p:cNvPr>
          <p:cNvSpPr txBox="1"/>
          <p:nvPr/>
        </p:nvSpPr>
        <p:spPr>
          <a:xfrm>
            <a:off x="396734" y="174333"/>
            <a:ext cx="93390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0" u="none" strike="noStrike" dirty="0">
                <a:solidFill>
                  <a:srgbClr val="495759"/>
                </a:solidFill>
                <a:effectLst/>
                <a:latin typeface="Tobias Light" pitchFamily="50" charset="0"/>
              </a:rPr>
              <a:t>Reporting and data pipelines are recipes</a:t>
            </a:r>
            <a:endParaRPr lang="en-US" sz="4800" dirty="0">
              <a:solidFill>
                <a:srgbClr val="495759"/>
              </a:solidFill>
              <a:latin typeface="Tobias Light" pitchFamily="50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59AFEC-D3CF-0DC8-D8F9-E46DE73D4A62}"/>
              </a:ext>
            </a:extLst>
          </p:cNvPr>
          <p:cNvGrpSpPr/>
          <p:nvPr/>
        </p:nvGrpSpPr>
        <p:grpSpPr>
          <a:xfrm>
            <a:off x="1709761" y="2249285"/>
            <a:ext cx="9180183" cy="1403942"/>
            <a:chOff x="1709761" y="2249285"/>
            <a:chExt cx="9180183" cy="1403942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5E14DDC-0DCB-08D9-E1B6-2CC3D69986A4}"/>
                </a:ext>
              </a:extLst>
            </p:cNvPr>
            <p:cNvCxnSpPr>
              <a:cxnSpLocks/>
              <a:stCxn id="4" idx="3"/>
              <a:endCxn id="10" idx="1"/>
            </p:cNvCxnSpPr>
            <p:nvPr/>
          </p:nvCxnSpPr>
          <p:spPr>
            <a:xfrm>
              <a:off x="4279078" y="2572451"/>
              <a:ext cx="1816922" cy="0"/>
            </a:xfrm>
            <a:prstGeom prst="straightConnector1">
              <a:avLst/>
            </a:prstGeom>
            <a:ln w="38100">
              <a:solidFill>
                <a:srgbClr val="EDAFB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8B0F3BD-A729-02A6-7D94-BE0DA91F7EAF}"/>
                </a:ext>
              </a:extLst>
            </p:cNvPr>
            <p:cNvGrpSpPr/>
            <p:nvPr/>
          </p:nvGrpSpPr>
          <p:grpSpPr>
            <a:xfrm>
              <a:off x="1709761" y="2249285"/>
              <a:ext cx="9180183" cy="1403942"/>
              <a:chOff x="1709761" y="2249285"/>
              <a:chExt cx="9180183" cy="140394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F7A9A1-F219-6284-9F19-8D3783F035B6}"/>
                  </a:ext>
                </a:extLst>
              </p:cNvPr>
              <p:cNvSpPr txBox="1"/>
              <p:nvPr/>
            </p:nvSpPr>
            <p:spPr>
              <a:xfrm>
                <a:off x="1927654" y="2387785"/>
                <a:ext cx="23514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rgbClr val="495759"/>
                    </a:solidFill>
                    <a:latin typeface="Söhne" panose="020B0503030202060203" pitchFamily="34" charset="0"/>
                    <a:ea typeface="Geneva" panose="020B0503030404040204" pitchFamily="34" charset="0"/>
                  </a:rPr>
                  <a:t>Hard to read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2D2C74-C0AA-1736-10CD-E6257CEC4701}"/>
                  </a:ext>
                </a:extLst>
              </p:cNvPr>
              <p:cNvSpPr txBox="1"/>
              <p:nvPr/>
            </p:nvSpPr>
            <p:spPr>
              <a:xfrm>
                <a:off x="1709761" y="3006896"/>
                <a:ext cx="255784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rgbClr val="495759"/>
                    </a:solidFill>
                    <a:latin typeface="Söhne" panose="020B0503030202060203" pitchFamily="34" charset="0"/>
                    <a:ea typeface="Geneva" panose="020B0503030404040204" pitchFamily="34" charset="0"/>
                  </a:rPr>
                  <a:t>Ambiguous instructions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1F306F-12FE-0D3B-E85D-7DA436A54505}"/>
                  </a:ext>
                </a:extLst>
              </p:cNvPr>
              <p:cNvSpPr txBox="1"/>
              <p:nvPr/>
            </p:nvSpPr>
            <p:spPr>
              <a:xfrm>
                <a:off x="6096000" y="2249285"/>
                <a:ext cx="47939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495759"/>
                    </a:solidFill>
                    <a:latin typeface="Söhne" panose="020B0503030202060203" pitchFamily="34" charset="0"/>
                    <a:ea typeface="Geneva" panose="020B0503030404040204" pitchFamily="34" charset="0"/>
                  </a:rPr>
                  <a:t>Up-to-date and thorough documentation doesn’t exist</a:t>
                </a:r>
              </a:p>
            </p:txBody>
          </p:sp>
          <p:cxnSp>
            <p:nvCxnSpPr>
              <p:cNvPr id="35" name="Elbow Connector 34">
                <a:extLst>
                  <a:ext uri="{FF2B5EF4-FFF2-40B4-BE49-F238E27FC236}">
                    <a16:creationId xmlns:a16="http://schemas.microsoft.com/office/drawing/2014/main" id="{717453D5-094D-8ADC-0975-324DB35CD0A2}"/>
                  </a:ext>
                </a:extLst>
              </p:cNvPr>
              <p:cNvCxnSpPr>
                <a:stCxn id="6" idx="3"/>
                <a:endCxn id="10" idx="1"/>
              </p:cNvCxnSpPr>
              <p:nvPr/>
            </p:nvCxnSpPr>
            <p:spPr>
              <a:xfrm flipV="1">
                <a:off x="4267608" y="2572451"/>
                <a:ext cx="1828392" cy="757611"/>
              </a:xfrm>
              <a:prstGeom prst="bentConnector3">
                <a:avLst>
                  <a:gd name="adj1" fmla="val 68247"/>
                </a:avLst>
              </a:prstGeom>
              <a:ln w="38100">
                <a:solidFill>
                  <a:srgbClr val="EDAFB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B4D02B-95D7-EAC8-119F-A06ADBB28884}"/>
              </a:ext>
            </a:extLst>
          </p:cNvPr>
          <p:cNvGrpSpPr/>
          <p:nvPr/>
        </p:nvGrpSpPr>
        <p:grpSpPr>
          <a:xfrm>
            <a:off x="2427749" y="3903006"/>
            <a:ext cx="8709329" cy="369332"/>
            <a:chOff x="2427749" y="3903006"/>
            <a:chExt cx="8709329" cy="36933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1AA0CF7-54D5-B543-2A13-12B02A7C75B6}"/>
                </a:ext>
              </a:extLst>
            </p:cNvPr>
            <p:cNvSpPr txBox="1"/>
            <p:nvPr/>
          </p:nvSpPr>
          <p:spPr>
            <a:xfrm>
              <a:off x="2427749" y="3903006"/>
              <a:ext cx="1839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495759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Self-edits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C1A6176-1CC7-29FE-7996-C15D7C1454D7}"/>
                </a:ext>
              </a:extLst>
            </p:cNvPr>
            <p:cNvSpPr txBox="1"/>
            <p:nvPr/>
          </p:nvSpPr>
          <p:spPr>
            <a:xfrm>
              <a:off x="6095999" y="3903006"/>
              <a:ext cx="50410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495759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No version control or GUI-based workflows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D09A90F-5F46-9551-2513-013A63ACF3B8}"/>
                </a:ext>
              </a:extLst>
            </p:cNvPr>
            <p:cNvCxnSpPr>
              <a:cxnSpLocks/>
            </p:cNvCxnSpPr>
            <p:nvPr/>
          </p:nvCxnSpPr>
          <p:spPr>
            <a:xfrm>
              <a:off x="4279078" y="4106393"/>
              <a:ext cx="1816922" cy="0"/>
            </a:xfrm>
            <a:prstGeom prst="straightConnector1">
              <a:avLst/>
            </a:prstGeom>
            <a:ln w="38100">
              <a:solidFill>
                <a:srgbClr val="EDAFB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BF153AA-9F7A-F63C-BAB5-F2CE576D5FB4}"/>
              </a:ext>
            </a:extLst>
          </p:cNvPr>
          <p:cNvGrpSpPr/>
          <p:nvPr/>
        </p:nvGrpSpPr>
        <p:grpSpPr>
          <a:xfrm>
            <a:off x="1721231" y="4522117"/>
            <a:ext cx="9404378" cy="646331"/>
            <a:chOff x="1721231" y="4522117"/>
            <a:chExt cx="9404378" cy="64633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489EC06-893F-6FC1-27E2-3E6ADB9692D5}"/>
                </a:ext>
              </a:extLst>
            </p:cNvPr>
            <p:cNvSpPr txBox="1"/>
            <p:nvPr/>
          </p:nvSpPr>
          <p:spPr>
            <a:xfrm>
              <a:off x="1721231" y="4522117"/>
              <a:ext cx="25578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495759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Retro or hard-to-find components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8B4DBF7-F5D5-8E98-D217-A2AA2812B268}"/>
                </a:ext>
              </a:extLst>
            </p:cNvPr>
            <p:cNvSpPr txBox="1"/>
            <p:nvPr/>
          </p:nvSpPr>
          <p:spPr>
            <a:xfrm>
              <a:off x="6084530" y="4660613"/>
              <a:ext cx="50410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495759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Why fix what isn’t broken? Outdated toolkits.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B13F17E-7DDA-A085-98E6-BD33EEED6C2E}"/>
                </a:ext>
              </a:extLst>
            </p:cNvPr>
            <p:cNvCxnSpPr>
              <a:cxnSpLocks/>
            </p:cNvCxnSpPr>
            <p:nvPr/>
          </p:nvCxnSpPr>
          <p:spPr>
            <a:xfrm>
              <a:off x="4279078" y="4845281"/>
              <a:ext cx="1816922" cy="0"/>
            </a:xfrm>
            <a:prstGeom prst="straightConnector1">
              <a:avLst/>
            </a:prstGeom>
            <a:ln w="38100">
              <a:solidFill>
                <a:srgbClr val="EDAFB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F5B982E-B289-EE71-3E9B-509C57659D69}"/>
              </a:ext>
            </a:extLst>
          </p:cNvPr>
          <p:cNvGrpSpPr/>
          <p:nvPr/>
        </p:nvGrpSpPr>
        <p:grpSpPr>
          <a:xfrm>
            <a:off x="1721231" y="5285221"/>
            <a:ext cx="9415846" cy="646331"/>
            <a:chOff x="1721231" y="5285221"/>
            <a:chExt cx="9415846" cy="64633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1F6366B-D915-2132-5BEB-B258D419AD2A}"/>
                </a:ext>
              </a:extLst>
            </p:cNvPr>
            <p:cNvSpPr txBox="1"/>
            <p:nvPr/>
          </p:nvSpPr>
          <p:spPr>
            <a:xfrm>
              <a:off x="1721231" y="5418227"/>
              <a:ext cx="25578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495759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Scaling challenges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6F615BE-2951-8D10-243B-1E8230C74CBF}"/>
                </a:ext>
              </a:extLst>
            </p:cNvPr>
            <p:cNvSpPr txBox="1"/>
            <p:nvPr/>
          </p:nvSpPr>
          <p:spPr>
            <a:xfrm>
              <a:off x="6095998" y="5285221"/>
              <a:ext cx="50410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495759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Speed, capacity, effort grow non-linearly as client-asks compound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EFBBC22-AB8F-A815-855C-B1E6091E407F}"/>
                </a:ext>
              </a:extLst>
            </p:cNvPr>
            <p:cNvCxnSpPr>
              <a:cxnSpLocks/>
            </p:cNvCxnSpPr>
            <p:nvPr/>
          </p:nvCxnSpPr>
          <p:spPr>
            <a:xfrm>
              <a:off x="4279078" y="5602893"/>
              <a:ext cx="1816922" cy="0"/>
            </a:xfrm>
            <a:prstGeom prst="straightConnector1">
              <a:avLst/>
            </a:prstGeom>
            <a:ln w="38100">
              <a:solidFill>
                <a:srgbClr val="EDAFB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04A5C2-CE16-0557-B0C1-B4BAABC6B1B1}"/>
              </a:ext>
            </a:extLst>
          </p:cNvPr>
          <p:cNvGrpSpPr/>
          <p:nvPr/>
        </p:nvGrpSpPr>
        <p:grpSpPr>
          <a:xfrm>
            <a:off x="1721231" y="6037336"/>
            <a:ext cx="9415846" cy="646331"/>
            <a:chOff x="1721231" y="6037336"/>
            <a:chExt cx="9415846" cy="64633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9F9A8A-32B6-79A1-9E0E-A282A356CA35}"/>
                </a:ext>
              </a:extLst>
            </p:cNvPr>
            <p:cNvSpPr txBox="1"/>
            <p:nvPr/>
          </p:nvSpPr>
          <p:spPr>
            <a:xfrm>
              <a:off x="1721231" y="6037336"/>
              <a:ext cx="25578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495759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Can’t ask for clarification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7C856DE-675D-9B03-2CBF-3A7E323A645A}"/>
                </a:ext>
              </a:extLst>
            </p:cNvPr>
            <p:cNvSpPr txBox="1"/>
            <p:nvPr/>
          </p:nvSpPr>
          <p:spPr>
            <a:xfrm>
              <a:off x="6095998" y="6175835"/>
              <a:ext cx="50410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495759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Team members leave or move on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8A4DB5C-614C-694D-0941-AB47A8D1114E}"/>
                </a:ext>
              </a:extLst>
            </p:cNvPr>
            <p:cNvCxnSpPr>
              <a:cxnSpLocks/>
            </p:cNvCxnSpPr>
            <p:nvPr/>
          </p:nvCxnSpPr>
          <p:spPr>
            <a:xfrm>
              <a:off x="4267608" y="6360501"/>
              <a:ext cx="1816922" cy="0"/>
            </a:xfrm>
            <a:prstGeom prst="straightConnector1">
              <a:avLst/>
            </a:prstGeom>
            <a:ln w="38100">
              <a:solidFill>
                <a:srgbClr val="EDAFB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121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57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65F282-C55C-848F-F96B-C9135159FF5E}"/>
              </a:ext>
            </a:extLst>
          </p:cNvPr>
          <p:cNvSpPr txBox="1"/>
          <p:nvPr/>
        </p:nvSpPr>
        <p:spPr>
          <a:xfrm>
            <a:off x="396734" y="174333"/>
            <a:ext cx="9339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0" u="none" strike="noStrike" dirty="0">
                <a:solidFill>
                  <a:srgbClr val="DFDBD2"/>
                </a:solidFill>
                <a:effectLst/>
                <a:latin typeface="Tobias Light" pitchFamily="50" charset="0"/>
              </a:rPr>
              <a:t>Our recipe challenge</a:t>
            </a:r>
            <a:endParaRPr lang="en-US" sz="4800" dirty="0">
              <a:solidFill>
                <a:srgbClr val="DFDBD2"/>
              </a:solidFill>
              <a:latin typeface="Tobias Light" pitchFamily="50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8600BFD-ED5B-B22D-AE66-6A2D1312C5F9}"/>
              </a:ext>
            </a:extLst>
          </p:cNvPr>
          <p:cNvGrpSpPr/>
          <p:nvPr/>
        </p:nvGrpSpPr>
        <p:grpSpPr>
          <a:xfrm>
            <a:off x="558300" y="1408621"/>
            <a:ext cx="2434419" cy="1991618"/>
            <a:chOff x="904682" y="1492024"/>
            <a:chExt cx="2434419" cy="1991618"/>
          </a:xfrm>
        </p:grpSpPr>
        <p:pic>
          <p:nvPicPr>
            <p:cNvPr id="5" name="Graphic 4" descr="Earth globe Africa and Europe">
              <a:extLst>
                <a:ext uri="{FF2B5EF4-FFF2-40B4-BE49-F238E27FC236}">
                  <a16:creationId xmlns:a16="http://schemas.microsoft.com/office/drawing/2014/main" id="{0574BAAC-3EBA-AAAB-F07A-3503FBB80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4682" y="1492024"/>
              <a:ext cx="914400" cy="9144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4335D80-47F1-C81A-DAA0-BF91FC88CDC5}"/>
                </a:ext>
              </a:extLst>
            </p:cNvPr>
            <p:cNvSpPr txBox="1"/>
            <p:nvPr/>
          </p:nvSpPr>
          <p:spPr>
            <a:xfrm>
              <a:off x="904682" y="2406424"/>
              <a:ext cx="243441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7E2D7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Survey data from a variety of global respondents</a:t>
              </a:r>
            </a:p>
            <a:p>
              <a:endParaRPr lang="en-US" sz="1600" dirty="0">
                <a:latin typeface="Söhne" panose="020B0503030202060203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0E0D7BB-BFDC-6CC1-5CB4-BC5D8129A661}"/>
              </a:ext>
            </a:extLst>
          </p:cNvPr>
          <p:cNvGrpSpPr/>
          <p:nvPr/>
        </p:nvGrpSpPr>
        <p:grpSpPr>
          <a:xfrm>
            <a:off x="3491816" y="1408621"/>
            <a:ext cx="2300855" cy="2037382"/>
            <a:chOff x="4037858" y="1446260"/>
            <a:chExt cx="2300855" cy="2037382"/>
          </a:xfrm>
        </p:grpSpPr>
        <p:pic>
          <p:nvPicPr>
            <p:cNvPr id="7" name="Graphic 6" descr="Document">
              <a:extLst>
                <a:ext uri="{FF2B5EF4-FFF2-40B4-BE49-F238E27FC236}">
                  <a16:creationId xmlns:a16="http://schemas.microsoft.com/office/drawing/2014/main" id="{FB4AECAD-0545-E4EB-CB2C-661A6B690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37858" y="1446260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A19408-A4DE-F82C-D430-68EBF1B227D1}"/>
                </a:ext>
              </a:extLst>
            </p:cNvPr>
            <p:cNvSpPr txBox="1"/>
            <p:nvPr/>
          </p:nvSpPr>
          <p:spPr>
            <a:xfrm>
              <a:off x="4037858" y="2406424"/>
              <a:ext cx="230085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7E2D7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Client wants PDFs representing answers for every respondent</a:t>
              </a:r>
            </a:p>
            <a:p>
              <a:endParaRPr lang="en-US" sz="1600" dirty="0">
                <a:latin typeface="Söhne" panose="020B0503030202060203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EC4ED51-1694-77D3-B2EB-A9419F4358A4}"/>
              </a:ext>
            </a:extLst>
          </p:cNvPr>
          <p:cNvGrpSpPr/>
          <p:nvPr/>
        </p:nvGrpSpPr>
        <p:grpSpPr>
          <a:xfrm>
            <a:off x="6291768" y="1490813"/>
            <a:ext cx="2434419" cy="1905049"/>
            <a:chOff x="6738973" y="1579072"/>
            <a:chExt cx="2434419" cy="190504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3AAAE8-E272-9737-06E6-3903FA6254AF}"/>
                </a:ext>
              </a:extLst>
            </p:cNvPr>
            <p:cNvSpPr txBox="1"/>
            <p:nvPr/>
          </p:nvSpPr>
          <p:spPr>
            <a:xfrm>
              <a:off x="6738973" y="2406903"/>
              <a:ext cx="243441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7E2D7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Hundreds of respondents per wave, repeated every year</a:t>
              </a:r>
            </a:p>
            <a:p>
              <a:endParaRPr lang="en-US" sz="1600" dirty="0">
                <a:latin typeface="Söhne" panose="020B0503030202060203" pitchFamily="34" charset="0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6D01E0E-BAFF-5E08-6398-928F0295B583}"/>
                </a:ext>
              </a:extLst>
            </p:cNvPr>
            <p:cNvGrpSpPr/>
            <p:nvPr/>
          </p:nvGrpSpPr>
          <p:grpSpPr>
            <a:xfrm>
              <a:off x="6779994" y="1579072"/>
              <a:ext cx="692478" cy="724322"/>
              <a:chOff x="6779994" y="1579072"/>
              <a:chExt cx="692478" cy="724322"/>
            </a:xfrm>
          </p:grpSpPr>
          <p:pic>
            <p:nvPicPr>
              <p:cNvPr id="10" name="Graphic 9" descr="Document">
                <a:extLst>
                  <a:ext uri="{FF2B5EF4-FFF2-40B4-BE49-F238E27FC236}">
                    <a16:creationId xmlns:a16="http://schemas.microsoft.com/office/drawing/2014/main" id="{43FCADCB-B9BB-12FF-CB67-C4FBC4A474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779994" y="1583315"/>
                <a:ext cx="327990" cy="327990"/>
              </a:xfrm>
              <a:prstGeom prst="rect">
                <a:avLst/>
              </a:prstGeom>
            </p:spPr>
          </p:pic>
          <p:pic>
            <p:nvPicPr>
              <p:cNvPr id="12" name="Graphic 11" descr="Document">
                <a:extLst>
                  <a:ext uri="{FF2B5EF4-FFF2-40B4-BE49-F238E27FC236}">
                    <a16:creationId xmlns:a16="http://schemas.microsoft.com/office/drawing/2014/main" id="{4E4A91BE-908C-3A01-C5CB-2D321DE18E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144482" y="1579072"/>
                <a:ext cx="327990" cy="327990"/>
              </a:xfrm>
              <a:prstGeom prst="rect">
                <a:avLst/>
              </a:prstGeom>
            </p:spPr>
          </p:pic>
          <p:pic>
            <p:nvPicPr>
              <p:cNvPr id="14" name="Graphic 13" descr="Document">
                <a:extLst>
                  <a:ext uri="{FF2B5EF4-FFF2-40B4-BE49-F238E27FC236}">
                    <a16:creationId xmlns:a16="http://schemas.microsoft.com/office/drawing/2014/main" id="{F37AAA14-BEFA-915A-1FE3-CDFD71DAE8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782545" y="1973029"/>
                <a:ext cx="327990" cy="327990"/>
              </a:xfrm>
              <a:prstGeom prst="rect">
                <a:avLst/>
              </a:prstGeom>
            </p:spPr>
          </p:pic>
          <p:pic>
            <p:nvPicPr>
              <p:cNvPr id="15" name="Graphic 14" descr="Document">
                <a:extLst>
                  <a:ext uri="{FF2B5EF4-FFF2-40B4-BE49-F238E27FC236}">
                    <a16:creationId xmlns:a16="http://schemas.microsoft.com/office/drawing/2014/main" id="{C7130762-CF4F-25EA-5221-5F8EA8A7E7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144482" y="1975404"/>
                <a:ext cx="327990" cy="327990"/>
              </a:xfrm>
              <a:prstGeom prst="rect">
                <a:avLst/>
              </a:prstGeom>
            </p:spPr>
          </p:pic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8C983D-A0C3-47C6-0C85-35EB0170FFA3}"/>
              </a:ext>
            </a:extLst>
          </p:cNvPr>
          <p:cNvGrpSpPr/>
          <p:nvPr/>
        </p:nvGrpSpPr>
        <p:grpSpPr>
          <a:xfrm>
            <a:off x="9225283" y="1408621"/>
            <a:ext cx="2631095" cy="1828800"/>
            <a:chOff x="9225283" y="1408621"/>
            <a:chExt cx="2631095" cy="1828800"/>
          </a:xfrm>
        </p:grpSpPr>
        <p:pic>
          <p:nvPicPr>
            <p:cNvPr id="9" name="Graphic 8" descr="Monthly calendar">
              <a:extLst>
                <a:ext uri="{FF2B5EF4-FFF2-40B4-BE49-F238E27FC236}">
                  <a16:creationId xmlns:a16="http://schemas.microsoft.com/office/drawing/2014/main" id="{D0F1835F-913C-9C3C-0777-A0879001D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25283" y="1408621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88193D-9E85-FF7B-DC0D-8B387FBB8F42}"/>
                </a:ext>
              </a:extLst>
            </p:cNvPr>
            <p:cNvSpPr txBox="1"/>
            <p:nvPr/>
          </p:nvSpPr>
          <p:spPr>
            <a:xfrm>
              <a:off x="9312891" y="2406424"/>
              <a:ext cx="254348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7E2D7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Individual reports need to be generated every week</a:t>
              </a:r>
            </a:p>
            <a:p>
              <a:endParaRPr lang="en-US" sz="1600" dirty="0">
                <a:latin typeface="Söhne" panose="020B0503030202060203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ABDB80F-8988-6B00-EDAE-A0120457BA7C}"/>
              </a:ext>
            </a:extLst>
          </p:cNvPr>
          <p:cNvGrpSpPr/>
          <p:nvPr/>
        </p:nvGrpSpPr>
        <p:grpSpPr>
          <a:xfrm>
            <a:off x="558300" y="3985507"/>
            <a:ext cx="2303416" cy="2111854"/>
            <a:chOff x="2884869" y="3726010"/>
            <a:chExt cx="2303416" cy="2111854"/>
          </a:xfrm>
        </p:grpSpPr>
        <p:pic>
          <p:nvPicPr>
            <p:cNvPr id="11" name="Graphic 10" descr="Open envelope">
              <a:extLst>
                <a:ext uri="{FF2B5EF4-FFF2-40B4-BE49-F238E27FC236}">
                  <a16:creationId xmlns:a16="http://schemas.microsoft.com/office/drawing/2014/main" id="{47AFA12D-0AFF-FAA3-13E0-DCEA653B2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884869" y="3726010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7E32A72-45BC-9333-B6DE-1C5EB74ED182}"/>
                </a:ext>
              </a:extLst>
            </p:cNvPr>
            <p:cNvSpPr txBox="1"/>
            <p:nvPr/>
          </p:nvSpPr>
          <p:spPr>
            <a:xfrm>
              <a:off x="2887430" y="4760646"/>
              <a:ext cx="230085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7E2D7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Historic pipeline and pdf formatting built in Mail Merge</a:t>
              </a:r>
            </a:p>
            <a:p>
              <a:endParaRPr lang="en-US" sz="1600" dirty="0">
                <a:latin typeface="Söhne" panose="020B0503030202060203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8806CF6-C774-CD28-317F-C162EB7195A9}"/>
              </a:ext>
            </a:extLst>
          </p:cNvPr>
          <p:cNvGrpSpPr/>
          <p:nvPr/>
        </p:nvGrpSpPr>
        <p:grpSpPr>
          <a:xfrm>
            <a:off x="3644216" y="4082325"/>
            <a:ext cx="2300855" cy="2015036"/>
            <a:chOff x="6486789" y="3702592"/>
            <a:chExt cx="2300855" cy="2015036"/>
          </a:xfrm>
        </p:grpSpPr>
        <p:pic>
          <p:nvPicPr>
            <p:cNvPr id="27" name="Graphic 26" descr="Walk">
              <a:extLst>
                <a:ext uri="{FF2B5EF4-FFF2-40B4-BE49-F238E27FC236}">
                  <a16:creationId xmlns:a16="http://schemas.microsoft.com/office/drawing/2014/main" id="{14163D1B-A3C4-B964-820A-D1A1CBE07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86789" y="3702592"/>
              <a:ext cx="914400" cy="9144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815E02D-0190-0E5F-8055-95DA4EBCA0EF}"/>
                </a:ext>
              </a:extLst>
            </p:cNvPr>
            <p:cNvSpPr txBox="1"/>
            <p:nvPr/>
          </p:nvSpPr>
          <p:spPr>
            <a:xfrm>
              <a:off x="6486789" y="4640410"/>
              <a:ext cx="230085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7E2D7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Had a team member leave that had built the pipeline</a:t>
              </a:r>
            </a:p>
            <a:p>
              <a:endParaRPr lang="en-US" sz="1600" dirty="0">
                <a:latin typeface="Söhne" panose="020B0503030202060203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85846C-F857-B468-E854-8055CF05E000}"/>
              </a:ext>
            </a:extLst>
          </p:cNvPr>
          <p:cNvGrpSpPr/>
          <p:nvPr/>
        </p:nvGrpSpPr>
        <p:grpSpPr>
          <a:xfrm>
            <a:off x="6377701" y="3975163"/>
            <a:ext cx="2300855" cy="2298719"/>
            <a:chOff x="6377701" y="3975163"/>
            <a:chExt cx="2300855" cy="229871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C4CC67B-2074-AFCF-E402-D02AB43E24F8}"/>
                </a:ext>
              </a:extLst>
            </p:cNvPr>
            <p:cNvSpPr txBox="1"/>
            <p:nvPr/>
          </p:nvSpPr>
          <p:spPr>
            <a:xfrm>
              <a:off x="6377701" y="4950443"/>
              <a:ext cx="230085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7E2D7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Wide SPSS data is a dominant feature – cross-functional data structure and naming</a:t>
              </a:r>
            </a:p>
            <a:p>
              <a:endParaRPr lang="en-US" sz="1600" dirty="0">
                <a:latin typeface="Söhne" panose="020B0503030202060203" pitchFamily="34" charset="0"/>
              </a:endParaRPr>
            </a:p>
          </p:txBody>
        </p:sp>
        <p:pic>
          <p:nvPicPr>
            <p:cNvPr id="30" name="Graphic 29" descr="Table">
              <a:extLst>
                <a:ext uri="{FF2B5EF4-FFF2-40B4-BE49-F238E27FC236}">
                  <a16:creationId xmlns:a16="http://schemas.microsoft.com/office/drawing/2014/main" id="{C962DFF3-6ED0-DB98-6A45-E4E39F3CB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406533" y="3975163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06C2437-9FF3-A161-49F0-0813E2A76360}"/>
              </a:ext>
            </a:extLst>
          </p:cNvPr>
          <p:cNvGrpSpPr/>
          <p:nvPr/>
        </p:nvGrpSpPr>
        <p:grpSpPr>
          <a:xfrm>
            <a:off x="9376045" y="4082325"/>
            <a:ext cx="2543487" cy="2191557"/>
            <a:chOff x="9376045" y="4082325"/>
            <a:chExt cx="2543487" cy="219155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9943466-A66D-31F7-29CD-CF6231F9FDF1}"/>
                </a:ext>
              </a:extLst>
            </p:cNvPr>
            <p:cNvSpPr txBox="1"/>
            <p:nvPr/>
          </p:nvSpPr>
          <p:spPr>
            <a:xfrm>
              <a:off x="9376045" y="4950443"/>
              <a:ext cx="254348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7E2D7"/>
                  </a:solidFill>
                  <a:latin typeface="Söhne" panose="020B0503030202060203" pitchFamily="34" charset="0"/>
                  <a:ea typeface="Geneva" panose="020B0503030404040204" pitchFamily="34" charset="0"/>
                </a:rPr>
                <a:t>De-silo pipeline with replicable infrastructure (GitHub) and documentation</a:t>
              </a:r>
            </a:p>
            <a:p>
              <a:endParaRPr lang="en-US" sz="1600" dirty="0">
                <a:latin typeface="Söhne" panose="020B0503030202060203" pitchFamily="34" charset="0"/>
              </a:endParaRPr>
            </a:p>
          </p:txBody>
        </p:sp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EEA8D8B6-7F24-7292-8FB7-B38C6671B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376045" y="4082325"/>
              <a:ext cx="651354" cy="6513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934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E9465E-2D3D-EC46-B0AB-B2001212B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470" y="963827"/>
            <a:ext cx="8765060" cy="4930346"/>
          </a:xfrm>
          <a:prstGeom prst="rect">
            <a:avLst/>
          </a:prstGeom>
          <a:effectLst>
            <a:softEdge rad="73701"/>
          </a:effectLst>
        </p:spPr>
      </p:pic>
    </p:spTree>
    <p:extLst>
      <p:ext uri="{BB962C8B-B14F-4D97-AF65-F5344CB8AC3E}">
        <p14:creationId xmlns:p14="http://schemas.microsoft.com/office/powerpoint/2010/main" val="979630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57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nip and Round Single Corner Rectangle 1">
            <a:extLst>
              <a:ext uri="{FF2B5EF4-FFF2-40B4-BE49-F238E27FC236}">
                <a16:creationId xmlns:a16="http://schemas.microsoft.com/office/drawing/2014/main" id="{F87B1826-F00B-5328-FD64-695E3198B8D7}"/>
              </a:ext>
            </a:extLst>
          </p:cNvPr>
          <p:cNvSpPr/>
          <p:nvPr/>
        </p:nvSpPr>
        <p:spPr>
          <a:xfrm rot="10800000" flipH="1">
            <a:off x="582804" y="-10048"/>
            <a:ext cx="1537397" cy="1668026"/>
          </a:xfrm>
          <a:prstGeom prst="snipRoundRect">
            <a:avLst/>
          </a:prstGeom>
          <a:solidFill>
            <a:srgbClr val="AFC4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EAC59-392B-972F-9AC5-53DD2FBE04F3}"/>
              </a:ext>
            </a:extLst>
          </p:cNvPr>
          <p:cNvSpPr txBox="1"/>
          <p:nvPr/>
        </p:nvSpPr>
        <p:spPr>
          <a:xfrm>
            <a:off x="793818" y="362300"/>
            <a:ext cx="1115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Raw Survey Data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6D3E8B3-AAC8-3120-38FA-4AB47D008C03}"/>
              </a:ext>
            </a:extLst>
          </p:cNvPr>
          <p:cNvSpPr/>
          <p:nvPr/>
        </p:nvSpPr>
        <p:spPr>
          <a:xfrm>
            <a:off x="582802" y="3004456"/>
            <a:ext cx="1537397" cy="1868994"/>
          </a:xfrm>
          <a:prstGeom prst="roundRect">
            <a:avLst/>
          </a:prstGeom>
          <a:solidFill>
            <a:srgbClr val="AFC4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C5EE3-4771-E3F8-5DE5-F6D790B988E1}"/>
              </a:ext>
            </a:extLst>
          </p:cNvPr>
          <p:cNvSpPr txBox="1"/>
          <p:nvPr/>
        </p:nvSpPr>
        <p:spPr>
          <a:xfrm>
            <a:off x="688308" y="3477288"/>
            <a:ext cx="1326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Wrangled, tidy(er) data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0EA2AF-84F6-2973-22D9-99CCDADB9ABE}"/>
              </a:ext>
            </a:extLst>
          </p:cNvPr>
          <p:cNvCxnSpPr>
            <a:cxnSpLocks/>
          </p:cNvCxnSpPr>
          <p:nvPr/>
        </p:nvCxnSpPr>
        <p:spPr>
          <a:xfrm flipV="1">
            <a:off x="2014691" y="1366576"/>
            <a:ext cx="0" cy="1758461"/>
          </a:xfrm>
          <a:prstGeom prst="line">
            <a:avLst/>
          </a:prstGeom>
          <a:ln w="28575">
            <a:solidFill>
              <a:srgbClr val="AFC4B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B0A8CB1-02B4-49FC-F351-95A741EFB9D4}"/>
              </a:ext>
            </a:extLst>
          </p:cNvPr>
          <p:cNvSpPr txBox="1"/>
          <p:nvPr/>
        </p:nvSpPr>
        <p:spPr>
          <a:xfrm>
            <a:off x="2120199" y="1732987"/>
            <a:ext cx="3017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EDAFB8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Collaborative effort with survey programming team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384A9C-976D-B15D-B537-3CDEC98CB479}"/>
              </a:ext>
            </a:extLst>
          </p:cNvPr>
          <p:cNvSpPr txBox="1"/>
          <p:nvPr/>
        </p:nvSpPr>
        <p:spPr>
          <a:xfrm>
            <a:off x="2120199" y="2406227"/>
            <a:ext cx="3017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EDAFB8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Automated to be generated/updated hourly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C6BB64-4E59-87F2-89D5-3540E1AFE955}"/>
              </a:ext>
            </a:extLst>
          </p:cNvPr>
          <p:cNvCxnSpPr>
            <a:cxnSpLocks/>
          </p:cNvCxnSpPr>
          <p:nvPr/>
        </p:nvCxnSpPr>
        <p:spPr>
          <a:xfrm flipV="1">
            <a:off x="1991241" y="4724400"/>
            <a:ext cx="0" cy="942870"/>
          </a:xfrm>
          <a:prstGeom prst="line">
            <a:avLst/>
          </a:prstGeom>
          <a:ln w="28575">
            <a:solidFill>
              <a:srgbClr val="AFC4B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3BCFE1A-4103-A0EF-A971-2CA687A51893}"/>
              </a:ext>
            </a:extLst>
          </p:cNvPr>
          <p:cNvCxnSpPr>
            <a:stCxn id="50" idx="0"/>
          </p:cNvCxnSpPr>
          <p:nvPr/>
        </p:nvCxnSpPr>
        <p:spPr>
          <a:xfrm flipV="1">
            <a:off x="4749013" y="5042313"/>
            <a:ext cx="0" cy="443402"/>
          </a:xfrm>
          <a:prstGeom prst="straightConnector1">
            <a:avLst/>
          </a:prstGeom>
          <a:ln w="19050">
            <a:solidFill>
              <a:srgbClr val="4957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732F9956-9B17-FDAE-179E-D7172BF14E1B}"/>
              </a:ext>
            </a:extLst>
          </p:cNvPr>
          <p:cNvSpPr/>
          <p:nvPr/>
        </p:nvSpPr>
        <p:spPr>
          <a:xfrm>
            <a:off x="11544950" y="362300"/>
            <a:ext cx="1537397" cy="2564152"/>
          </a:xfrm>
          <a:prstGeom prst="roundRect">
            <a:avLst/>
          </a:prstGeom>
          <a:solidFill>
            <a:srgbClr val="AFC4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CD28581-26C3-16A0-3CE1-E413C19E2184}"/>
              </a:ext>
            </a:extLst>
          </p:cNvPr>
          <p:cNvCxnSpPr>
            <a:cxnSpLocks/>
          </p:cNvCxnSpPr>
          <p:nvPr/>
        </p:nvCxnSpPr>
        <p:spPr>
          <a:xfrm flipV="1">
            <a:off x="11914496" y="2926452"/>
            <a:ext cx="0" cy="2995802"/>
          </a:xfrm>
          <a:prstGeom prst="line">
            <a:avLst/>
          </a:prstGeom>
          <a:ln w="28575">
            <a:solidFill>
              <a:srgbClr val="AFC4B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7AF3233-CDD4-7401-E1EF-E7D988D7BB00}"/>
              </a:ext>
            </a:extLst>
          </p:cNvPr>
          <p:cNvSpPr txBox="1"/>
          <p:nvPr/>
        </p:nvSpPr>
        <p:spPr>
          <a:xfrm rot="16200000">
            <a:off x="10905316" y="1459710"/>
            <a:ext cx="2030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Network drive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9CF6A84-B424-2D2B-2DCA-4F4A913E933F}"/>
              </a:ext>
            </a:extLst>
          </p:cNvPr>
          <p:cNvGrpSpPr/>
          <p:nvPr/>
        </p:nvGrpSpPr>
        <p:grpSpPr>
          <a:xfrm>
            <a:off x="2852275" y="184540"/>
            <a:ext cx="8138941" cy="6488919"/>
            <a:chOff x="3161402" y="206169"/>
            <a:chExt cx="8624520" cy="6488919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762D597F-944E-6C13-3317-28E3AEA43636}"/>
                </a:ext>
              </a:extLst>
            </p:cNvPr>
            <p:cNvSpPr/>
            <p:nvPr/>
          </p:nvSpPr>
          <p:spPr>
            <a:xfrm>
              <a:off x="3161402" y="3730825"/>
              <a:ext cx="8616665" cy="2964263"/>
            </a:xfrm>
            <a:prstGeom prst="roundRect">
              <a:avLst/>
            </a:prstGeom>
            <a:solidFill>
              <a:srgbClr val="F7E2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5BEB2DD-3C46-DDA4-3EEC-4DD8D4367BE1}"/>
                </a:ext>
              </a:extLst>
            </p:cNvPr>
            <p:cNvSpPr/>
            <p:nvPr/>
          </p:nvSpPr>
          <p:spPr>
            <a:xfrm>
              <a:off x="6984001" y="206169"/>
              <a:ext cx="4801921" cy="5617028"/>
            </a:xfrm>
            <a:prstGeom prst="roundRect">
              <a:avLst/>
            </a:prstGeom>
            <a:solidFill>
              <a:srgbClr val="F7E2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96D55D-6558-7078-23C4-2197EE25EB92}"/>
              </a:ext>
            </a:extLst>
          </p:cNvPr>
          <p:cNvCxnSpPr>
            <a:cxnSpLocks/>
          </p:cNvCxnSpPr>
          <p:nvPr/>
        </p:nvCxnSpPr>
        <p:spPr>
          <a:xfrm flipH="1">
            <a:off x="1991241" y="5687967"/>
            <a:ext cx="2346007" cy="0"/>
          </a:xfrm>
          <a:prstGeom prst="line">
            <a:avLst/>
          </a:prstGeom>
          <a:ln w="28575">
            <a:solidFill>
              <a:srgbClr val="AFC4B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56E26D1-E099-2DEE-3079-708CD6F79119}"/>
              </a:ext>
            </a:extLst>
          </p:cNvPr>
          <p:cNvGrpSpPr/>
          <p:nvPr/>
        </p:nvGrpSpPr>
        <p:grpSpPr>
          <a:xfrm>
            <a:off x="5436025" y="2415108"/>
            <a:ext cx="1876203" cy="1808427"/>
            <a:chOff x="5530053" y="562567"/>
            <a:chExt cx="1876203" cy="180842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895A1A3-850D-DFB0-1E16-3A6BA97E2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30053" y="562567"/>
              <a:ext cx="628750" cy="723063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11D5AF8-6D6E-272B-7E39-0444B748A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77506" y="1647931"/>
              <a:ext cx="628750" cy="72306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4AD8B13-01C0-C82F-4DFB-064C0965D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58803" y="1625391"/>
              <a:ext cx="628751" cy="723064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151EF8F-4EAB-BD5C-5841-5C4BEE2C3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73178" y="1108843"/>
              <a:ext cx="628751" cy="723064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95F8518-110E-8CF3-B009-28765A569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57351" y="1093979"/>
              <a:ext cx="628751" cy="723064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614A587-E672-983F-4BEA-86DC8447C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58803" y="562567"/>
              <a:ext cx="628751" cy="728303"/>
            </a:xfrm>
            <a:prstGeom prst="rect">
              <a:avLst/>
            </a:prstGeom>
          </p:spPr>
        </p:pic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4E9A817-F094-5BDA-5256-15F0E8398AF2}"/>
              </a:ext>
            </a:extLst>
          </p:cNvPr>
          <p:cNvSpPr/>
          <p:nvPr/>
        </p:nvSpPr>
        <p:spPr>
          <a:xfrm>
            <a:off x="6736246" y="823965"/>
            <a:ext cx="1738508" cy="1582262"/>
          </a:xfrm>
          <a:prstGeom prst="roundRect">
            <a:avLst/>
          </a:prstGeom>
          <a:solidFill>
            <a:srgbClr val="4957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7E2D7"/>
                </a:solidFill>
                <a:latin typeface="Söhne" panose="020B0503030202060203" pitchFamily="34" charset="0"/>
              </a:rPr>
              <a:t>Helper functions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2B220E7-446E-2789-00A7-AD60A5FE20E7}"/>
              </a:ext>
            </a:extLst>
          </p:cNvPr>
          <p:cNvSpPr/>
          <p:nvPr/>
        </p:nvSpPr>
        <p:spPr>
          <a:xfrm>
            <a:off x="8871870" y="823965"/>
            <a:ext cx="1738508" cy="1582262"/>
          </a:xfrm>
          <a:prstGeom prst="roundRect">
            <a:avLst/>
          </a:prstGeom>
          <a:solidFill>
            <a:srgbClr val="49575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7E2D7"/>
                </a:solidFill>
                <a:latin typeface="Söhne" panose="020B0503030202060203" pitchFamily="34" charset="0"/>
              </a:rPr>
              <a:t>.</a:t>
            </a:r>
            <a:r>
              <a:rPr lang="en-US" dirty="0" err="1">
                <a:solidFill>
                  <a:srgbClr val="F7E2D7"/>
                </a:solidFill>
                <a:latin typeface="Söhne" panose="020B0503030202060203" pitchFamily="34" charset="0"/>
              </a:rPr>
              <a:t>qmd</a:t>
            </a:r>
            <a:r>
              <a:rPr lang="en-US" dirty="0">
                <a:solidFill>
                  <a:srgbClr val="F7E2D7"/>
                </a:solidFill>
                <a:latin typeface="Söhne" panose="020B0503030202060203" pitchFamily="34" charset="0"/>
              </a:rPr>
              <a:t> template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486B5B3-D2B2-E676-2F50-BE49E28F4C37}"/>
              </a:ext>
            </a:extLst>
          </p:cNvPr>
          <p:cNvSpPr/>
          <p:nvPr/>
        </p:nvSpPr>
        <p:spPr>
          <a:xfrm>
            <a:off x="8871870" y="2732210"/>
            <a:ext cx="1738508" cy="1582262"/>
          </a:xfrm>
          <a:prstGeom prst="roundRect">
            <a:avLst/>
          </a:prstGeom>
          <a:solidFill>
            <a:srgbClr val="49575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7E2D7"/>
                </a:solidFill>
                <a:latin typeface="Söhne" panose="020B0503030202060203" pitchFamily="34" charset="0"/>
              </a:rPr>
              <a:t>YAML header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FDCA90E-6596-96BF-F776-6A3F73598CE7}"/>
              </a:ext>
            </a:extLst>
          </p:cNvPr>
          <p:cNvSpPr/>
          <p:nvPr/>
        </p:nvSpPr>
        <p:spPr>
          <a:xfrm>
            <a:off x="2981232" y="3926830"/>
            <a:ext cx="2733525" cy="1115483"/>
          </a:xfrm>
          <a:prstGeom prst="roundRect">
            <a:avLst/>
          </a:prstGeom>
          <a:solidFill>
            <a:srgbClr val="49575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7E2D7"/>
                </a:solidFill>
                <a:latin typeface="Söhne" panose="020B0503030202060203" pitchFamily="34" charset="0"/>
              </a:rPr>
              <a:t>Main Automation Script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DA34704-DA5A-70E8-4AE3-3E6468B41BAB}"/>
              </a:ext>
            </a:extLst>
          </p:cNvPr>
          <p:cNvCxnSpPr>
            <a:cxnSpLocks/>
            <a:stCxn id="35" idx="2"/>
            <a:endCxn id="38" idx="3"/>
          </p:cNvCxnSpPr>
          <p:nvPr/>
        </p:nvCxnSpPr>
        <p:spPr>
          <a:xfrm rot="5400000">
            <a:off x="5620957" y="2500028"/>
            <a:ext cx="2078345" cy="1890743"/>
          </a:xfrm>
          <a:prstGeom prst="bentConnector2">
            <a:avLst/>
          </a:prstGeom>
          <a:ln w="19050">
            <a:solidFill>
              <a:srgbClr val="4957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D47BFBF9-0096-97D5-38F2-B1A37D2B3727}"/>
              </a:ext>
            </a:extLst>
          </p:cNvPr>
          <p:cNvCxnSpPr>
            <a:cxnSpLocks/>
            <a:stCxn id="37" idx="2"/>
          </p:cNvCxnSpPr>
          <p:nvPr/>
        </p:nvCxnSpPr>
        <p:spPr>
          <a:xfrm rot="5400000">
            <a:off x="7567358" y="2461872"/>
            <a:ext cx="321167" cy="4026367"/>
          </a:xfrm>
          <a:prstGeom prst="bentConnector2">
            <a:avLst/>
          </a:prstGeom>
          <a:ln w="19050">
            <a:solidFill>
              <a:srgbClr val="4957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B506E6E-5E12-FCD0-516F-50A3C02136A5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9741124" y="2406227"/>
            <a:ext cx="0" cy="325983"/>
          </a:xfrm>
          <a:prstGeom prst="line">
            <a:avLst/>
          </a:prstGeom>
          <a:ln w="19050">
            <a:solidFill>
              <a:srgbClr val="495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FCE19333-059C-29E9-F47D-A1BEFA8E0210}"/>
              </a:ext>
            </a:extLst>
          </p:cNvPr>
          <p:cNvSpPr/>
          <p:nvPr/>
        </p:nvSpPr>
        <p:spPr>
          <a:xfrm>
            <a:off x="3879759" y="5485715"/>
            <a:ext cx="1738508" cy="815405"/>
          </a:xfrm>
          <a:prstGeom prst="roundRect">
            <a:avLst/>
          </a:prstGeom>
          <a:solidFill>
            <a:srgbClr val="49575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7E2D7"/>
                </a:solidFill>
                <a:latin typeface="Söhne" panose="020B0503030202060203" pitchFamily="34" charset="0"/>
              </a:rPr>
              <a:t>Data store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640CB7F-90A1-9556-3D98-CDEA7270BC2D}"/>
              </a:ext>
            </a:extLst>
          </p:cNvPr>
          <p:cNvSpPr/>
          <p:nvPr/>
        </p:nvSpPr>
        <p:spPr>
          <a:xfrm>
            <a:off x="6197979" y="5485715"/>
            <a:ext cx="1738508" cy="815405"/>
          </a:xfrm>
          <a:prstGeom prst="roundRect">
            <a:avLst/>
          </a:prstGeom>
          <a:solidFill>
            <a:srgbClr val="49575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7E2D7"/>
                </a:solidFill>
                <a:latin typeface="Söhne" panose="020B0503030202060203" pitchFamily="34" charset="0"/>
              </a:rPr>
              <a:t>Report store</a:t>
            </a: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6D668B1A-50DF-01B5-A7CD-B9AFC3D9B6D9}"/>
              </a:ext>
            </a:extLst>
          </p:cNvPr>
          <p:cNvCxnSpPr>
            <a:cxnSpLocks/>
            <a:endCxn id="54" idx="0"/>
          </p:cNvCxnSpPr>
          <p:nvPr/>
        </p:nvCxnSpPr>
        <p:spPr>
          <a:xfrm>
            <a:off x="5691308" y="4872214"/>
            <a:ext cx="1375925" cy="613501"/>
          </a:xfrm>
          <a:prstGeom prst="bentConnector2">
            <a:avLst/>
          </a:prstGeom>
          <a:ln w="19050">
            <a:solidFill>
              <a:srgbClr val="4957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B82B8C-769F-87CE-39F2-2FA819EC802D}"/>
              </a:ext>
            </a:extLst>
          </p:cNvPr>
          <p:cNvCxnSpPr>
            <a:cxnSpLocks/>
          </p:cNvCxnSpPr>
          <p:nvPr/>
        </p:nvCxnSpPr>
        <p:spPr>
          <a:xfrm flipH="1">
            <a:off x="7936487" y="5922254"/>
            <a:ext cx="3978009" cy="0"/>
          </a:xfrm>
          <a:prstGeom prst="line">
            <a:avLst/>
          </a:prstGeom>
          <a:ln w="28575">
            <a:solidFill>
              <a:srgbClr val="AFC4B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26931A2-5709-49D0-598E-6E73BDE81541}"/>
              </a:ext>
            </a:extLst>
          </p:cNvPr>
          <p:cNvSpPr txBox="1"/>
          <p:nvPr/>
        </p:nvSpPr>
        <p:spPr>
          <a:xfrm>
            <a:off x="8333705" y="6139903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GitHub </a:t>
            </a:r>
            <a:r>
              <a:rPr lang="en-US" dirty="0" err="1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Reprex</a:t>
            </a:r>
            <a:endParaRPr lang="en-US" dirty="0">
              <a:solidFill>
                <a:srgbClr val="495759"/>
              </a:solidFill>
              <a:latin typeface="Söhne" panose="020B0503030202060203" pitchFamily="34" charset="0"/>
              <a:ea typeface="Geneva" panose="020B0503030404040204" pitchFamily="34" charset="0"/>
            </a:endParaRPr>
          </a:p>
        </p:txBody>
      </p:sp>
      <p:pic>
        <p:nvPicPr>
          <p:cNvPr id="9" name="Picture 8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26ABD5BB-C4B1-6754-4B1E-BA938279E4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6597" y="6042941"/>
            <a:ext cx="553781" cy="553781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F41557C-8D4F-4B69-9461-347DEB76DD39}"/>
              </a:ext>
            </a:extLst>
          </p:cNvPr>
          <p:cNvSpPr/>
          <p:nvPr/>
        </p:nvSpPr>
        <p:spPr>
          <a:xfrm>
            <a:off x="1909186" y="33867"/>
            <a:ext cx="9481304" cy="6897511"/>
          </a:xfrm>
          <a:custGeom>
            <a:avLst/>
            <a:gdLst>
              <a:gd name="connsiteX0" fmla="*/ 519289 w 9335911"/>
              <a:gd name="connsiteY0" fmla="*/ 3285066 h 6897511"/>
              <a:gd name="connsiteX1" fmla="*/ 519289 w 9335911"/>
              <a:gd name="connsiteY1" fmla="*/ 3285066 h 6897511"/>
              <a:gd name="connsiteX2" fmla="*/ 959555 w 9335911"/>
              <a:gd name="connsiteY2" fmla="*/ 3273777 h 6897511"/>
              <a:gd name="connsiteX3" fmla="*/ 1286933 w 9335911"/>
              <a:gd name="connsiteY3" fmla="*/ 3262489 h 6897511"/>
              <a:gd name="connsiteX4" fmla="*/ 1704622 w 9335911"/>
              <a:gd name="connsiteY4" fmla="*/ 3273777 h 6897511"/>
              <a:gd name="connsiteX5" fmla="*/ 1885244 w 9335911"/>
              <a:gd name="connsiteY5" fmla="*/ 3239911 h 6897511"/>
              <a:gd name="connsiteX6" fmla="*/ 2167466 w 9335911"/>
              <a:gd name="connsiteY6" fmla="*/ 3194755 h 6897511"/>
              <a:gd name="connsiteX7" fmla="*/ 2415822 w 9335911"/>
              <a:gd name="connsiteY7" fmla="*/ 3138311 h 6897511"/>
              <a:gd name="connsiteX8" fmla="*/ 2607733 w 9335911"/>
              <a:gd name="connsiteY8" fmla="*/ 3081866 h 6897511"/>
              <a:gd name="connsiteX9" fmla="*/ 2720622 w 9335911"/>
              <a:gd name="connsiteY9" fmla="*/ 3014133 h 6897511"/>
              <a:gd name="connsiteX10" fmla="*/ 2822222 w 9335911"/>
              <a:gd name="connsiteY10" fmla="*/ 2923822 h 6897511"/>
              <a:gd name="connsiteX11" fmla="*/ 2856089 w 9335911"/>
              <a:gd name="connsiteY11" fmla="*/ 2844800 h 6897511"/>
              <a:gd name="connsiteX12" fmla="*/ 3014133 w 9335911"/>
              <a:gd name="connsiteY12" fmla="*/ 2675466 h 6897511"/>
              <a:gd name="connsiteX13" fmla="*/ 3059289 w 9335911"/>
              <a:gd name="connsiteY13" fmla="*/ 2607733 h 6897511"/>
              <a:gd name="connsiteX14" fmla="*/ 3093155 w 9335911"/>
              <a:gd name="connsiteY14" fmla="*/ 2573866 h 6897511"/>
              <a:gd name="connsiteX15" fmla="*/ 3149600 w 9335911"/>
              <a:gd name="connsiteY15" fmla="*/ 2494844 h 6897511"/>
              <a:gd name="connsiteX16" fmla="*/ 3364089 w 9335911"/>
              <a:gd name="connsiteY16" fmla="*/ 2257777 h 6897511"/>
              <a:gd name="connsiteX17" fmla="*/ 3488266 w 9335911"/>
              <a:gd name="connsiteY17" fmla="*/ 1975555 h 6897511"/>
              <a:gd name="connsiteX18" fmla="*/ 3589866 w 9335911"/>
              <a:gd name="connsiteY18" fmla="*/ 1512711 h 6897511"/>
              <a:gd name="connsiteX19" fmla="*/ 3623733 w 9335911"/>
              <a:gd name="connsiteY19" fmla="*/ 1388533 h 6897511"/>
              <a:gd name="connsiteX20" fmla="*/ 3691466 w 9335911"/>
              <a:gd name="connsiteY20" fmla="*/ 1162755 h 6897511"/>
              <a:gd name="connsiteX21" fmla="*/ 3714044 w 9335911"/>
              <a:gd name="connsiteY21" fmla="*/ 1027289 h 6897511"/>
              <a:gd name="connsiteX22" fmla="*/ 3736622 w 9335911"/>
              <a:gd name="connsiteY22" fmla="*/ 959555 h 6897511"/>
              <a:gd name="connsiteX23" fmla="*/ 3793066 w 9335911"/>
              <a:gd name="connsiteY23" fmla="*/ 790222 h 6897511"/>
              <a:gd name="connsiteX24" fmla="*/ 3872089 w 9335911"/>
              <a:gd name="connsiteY24" fmla="*/ 609600 h 6897511"/>
              <a:gd name="connsiteX25" fmla="*/ 3917244 w 9335911"/>
              <a:gd name="connsiteY25" fmla="*/ 541866 h 6897511"/>
              <a:gd name="connsiteX26" fmla="*/ 3973689 w 9335911"/>
              <a:gd name="connsiteY26" fmla="*/ 462844 h 6897511"/>
              <a:gd name="connsiteX27" fmla="*/ 4018844 w 9335911"/>
              <a:gd name="connsiteY27" fmla="*/ 383822 h 6897511"/>
              <a:gd name="connsiteX28" fmla="*/ 4097866 w 9335911"/>
              <a:gd name="connsiteY28" fmla="*/ 293511 h 6897511"/>
              <a:gd name="connsiteX29" fmla="*/ 4143022 w 9335911"/>
              <a:gd name="connsiteY29" fmla="*/ 259644 h 6897511"/>
              <a:gd name="connsiteX30" fmla="*/ 4357511 w 9335911"/>
              <a:gd name="connsiteY30" fmla="*/ 203200 h 6897511"/>
              <a:gd name="connsiteX31" fmla="*/ 4560711 w 9335911"/>
              <a:gd name="connsiteY31" fmla="*/ 169333 h 6897511"/>
              <a:gd name="connsiteX32" fmla="*/ 4651022 w 9335911"/>
              <a:gd name="connsiteY32" fmla="*/ 146755 h 6897511"/>
              <a:gd name="connsiteX33" fmla="*/ 4876800 w 9335911"/>
              <a:gd name="connsiteY33" fmla="*/ 101600 h 6897511"/>
              <a:gd name="connsiteX34" fmla="*/ 5362222 w 9335911"/>
              <a:gd name="connsiteY34" fmla="*/ 33866 h 6897511"/>
              <a:gd name="connsiteX35" fmla="*/ 5565422 w 9335911"/>
              <a:gd name="connsiteY35" fmla="*/ 0 h 6897511"/>
              <a:gd name="connsiteX36" fmla="*/ 5870222 w 9335911"/>
              <a:gd name="connsiteY36" fmla="*/ 33866 h 6897511"/>
              <a:gd name="connsiteX37" fmla="*/ 5960533 w 9335911"/>
              <a:gd name="connsiteY37" fmla="*/ 45155 h 6897511"/>
              <a:gd name="connsiteX38" fmla="*/ 6739466 w 9335911"/>
              <a:gd name="connsiteY38" fmla="*/ 56444 h 6897511"/>
              <a:gd name="connsiteX39" fmla="*/ 8195733 w 9335911"/>
              <a:gd name="connsiteY39" fmla="*/ 45155 h 6897511"/>
              <a:gd name="connsiteX40" fmla="*/ 8240889 w 9335911"/>
              <a:gd name="connsiteY40" fmla="*/ 33866 h 6897511"/>
              <a:gd name="connsiteX41" fmla="*/ 8489244 w 9335911"/>
              <a:gd name="connsiteY41" fmla="*/ 67733 h 6897511"/>
              <a:gd name="connsiteX42" fmla="*/ 8692444 w 9335911"/>
              <a:gd name="connsiteY42" fmla="*/ 124177 h 6897511"/>
              <a:gd name="connsiteX43" fmla="*/ 8782755 w 9335911"/>
              <a:gd name="connsiteY43" fmla="*/ 146755 h 6897511"/>
              <a:gd name="connsiteX44" fmla="*/ 8805333 w 9335911"/>
              <a:gd name="connsiteY44" fmla="*/ 180622 h 6897511"/>
              <a:gd name="connsiteX45" fmla="*/ 8839200 w 9335911"/>
              <a:gd name="connsiteY45" fmla="*/ 203200 h 6897511"/>
              <a:gd name="connsiteX46" fmla="*/ 8918222 w 9335911"/>
              <a:gd name="connsiteY46" fmla="*/ 327377 h 6897511"/>
              <a:gd name="connsiteX47" fmla="*/ 8940800 w 9335911"/>
              <a:gd name="connsiteY47" fmla="*/ 361244 h 6897511"/>
              <a:gd name="connsiteX48" fmla="*/ 9019822 w 9335911"/>
              <a:gd name="connsiteY48" fmla="*/ 428977 h 6897511"/>
              <a:gd name="connsiteX49" fmla="*/ 9064978 w 9335911"/>
              <a:gd name="connsiteY49" fmla="*/ 496711 h 6897511"/>
              <a:gd name="connsiteX50" fmla="*/ 9098844 w 9335911"/>
              <a:gd name="connsiteY50" fmla="*/ 553155 h 6897511"/>
              <a:gd name="connsiteX51" fmla="*/ 9200444 w 9335911"/>
              <a:gd name="connsiteY51" fmla="*/ 846666 h 6897511"/>
              <a:gd name="connsiteX52" fmla="*/ 9234311 w 9335911"/>
              <a:gd name="connsiteY52" fmla="*/ 936977 h 6897511"/>
              <a:gd name="connsiteX53" fmla="*/ 9313333 w 9335911"/>
              <a:gd name="connsiteY53" fmla="*/ 1524000 h 6897511"/>
              <a:gd name="connsiteX54" fmla="*/ 9313333 w 9335911"/>
              <a:gd name="connsiteY54" fmla="*/ 2381955 h 6897511"/>
              <a:gd name="connsiteX55" fmla="*/ 9290755 w 9335911"/>
              <a:gd name="connsiteY55" fmla="*/ 2596444 h 6897511"/>
              <a:gd name="connsiteX56" fmla="*/ 9268178 w 9335911"/>
              <a:gd name="connsiteY56" fmla="*/ 2867377 h 6897511"/>
              <a:gd name="connsiteX57" fmla="*/ 9256889 w 9335911"/>
              <a:gd name="connsiteY57" fmla="*/ 3081866 h 6897511"/>
              <a:gd name="connsiteX58" fmla="*/ 9223022 w 9335911"/>
              <a:gd name="connsiteY58" fmla="*/ 3680177 h 6897511"/>
              <a:gd name="connsiteX59" fmla="*/ 9234311 w 9335911"/>
              <a:gd name="connsiteY59" fmla="*/ 3962400 h 6897511"/>
              <a:gd name="connsiteX60" fmla="*/ 9245600 w 9335911"/>
              <a:gd name="connsiteY60" fmla="*/ 4086577 h 6897511"/>
              <a:gd name="connsiteX61" fmla="*/ 9256889 w 9335911"/>
              <a:gd name="connsiteY61" fmla="*/ 4989689 h 6897511"/>
              <a:gd name="connsiteX62" fmla="*/ 9279466 w 9335911"/>
              <a:gd name="connsiteY62" fmla="*/ 5181600 h 6897511"/>
              <a:gd name="connsiteX63" fmla="*/ 9335911 w 9335911"/>
              <a:gd name="connsiteY63" fmla="*/ 5599289 h 6897511"/>
              <a:gd name="connsiteX64" fmla="*/ 9324622 w 9335911"/>
              <a:gd name="connsiteY64" fmla="*/ 6129866 h 6897511"/>
              <a:gd name="connsiteX65" fmla="*/ 9313333 w 9335911"/>
              <a:gd name="connsiteY65" fmla="*/ 6231466 h 6897511"/>
              <a:gd name="connsiteX66" fmla="*/ 9290755 w 9335911"/>
              <a:gd name="connsiteY66" fmla="*/ 6310489 h 6897511"/>
              <a:gd name="connsiteX67" fmla="*/ 9279466 w 9335911"/>
              <a:gd name="connsiteY67" fmla="*/ 6378222 h 6897511"/>
              <a:gd name="connsiteX68" fmla="*/ 9256889 w 9335911"/>
              <a:gd name="connsiteY68" fmla="*/ 6412089 h 6897511"/>
              <a:gd name="connsiteX69" fmla="*/ 9234311 w 9335911"/>
              <a:gd name="connsiteY69" fmla="*/ 6457244 h 6897511"/>
              <a:gd name="connsiteX70" fmla="*/ 9042400 w 9335911"/>
              <a:gd name="connsiteY70" fmla="*/ 6592711 h 6897511"/>
              <a:gd name="connsiteX71" fmla="*/ 8816622 w 9335911"/>
              <a:gd name="connsiteY71" fmla="*/ 6683022 h 6897511"/>
              <a:gd name="connsiteX72" fmla="*/ 8737600 w 9335911"/>
              <a:gd name="connsiteY72" fmla="*/ 6716889 h 6897511"/>
              <a:gd name="connsiteX73" fmla="*/ 8613422 w 9335911"/>
              <a:gd name="connsiteY73" fmla="*/ 6739466 h 6897511"/>
              <a:gd name="connsiteX74" fmla="*/ 8173155 w 9335911"/>
              <a:gd name="connsiteY74" fmla="*/ 6784622 h 6897511"/>
              <a:gd name="connsiteX75" fmla="*/ 7247466 w 9335911"/>
              <a:gd name="connsiteY75" fmla="*/ 6807200 h 6897511"/>
              <a:gd name="connsiteX76" fmla="*/ 6694311 w 9335911"/>
              <a:gd name="connsiteY76" fmla="*/ 6841066 h 6897511"/>
              <a:gd name="connsiteX77" fmla="*/ 6366933 w 9335911"/>
              <a:gd name="connsiteY77" fmla="*/ 6874933 h 6897511"/>
              <a:gd name="connsiteX78" fmla="*/ 6050844 w 9335911"/>
              <a:gd name="connsiteY78" fmla="*/ 6886222 h 6897511"/>
              <a:gd name="connsiteX79" fmla="*/ 5813778 w 9335911"/>
              <a:gd name="connsiteY79" fmla="*/ 6897511 h 6897511"/>
              <a:gd name="connsiteX80" fmla="*/ 4447822 w 9335911"/>
              <a:gd name="connsiteY80" fmla="*/ 6874933 h 6897511"/>
              <a:gd name="connsiteX81" fmla="*/ 4165600 w 9335911"/>
              <a:gd name="connsiteY81" fmla="*/ 6863644 h 6897511"/>
              <a:gd name="connsiteX82" fmla="*/ 3962400 w 9335911"/>
              <a:gd name="connsiteY82" fmla="*/ 6852355 h 6897511"/>
              <a:gd name="connsiteX83" fmla="*/ 2280355 w 9335911"/>
              <a:gd name="connsiteY83" fmla="*/ 6841066 h 6897511"/>
              <a:gd name="connsiteX84" fmla="*/ 2020711 w 9335911"/>
              <a:gd name="connsiteY84" fmla="*/ 6829777 h 6897511"/>
              <a:gd name="connsiteX85" fmla="*/ 801511 w 9335911"/>
              <a:gd name="connsiteY85" fmla="*/ 6807200 h 6897511"/>
              <a:gd name="connsiteX86" fmla="*/ 587022 w 9335911"/>
              <a:gd name="connsiteY86" fmla="*/ 6784622 h 6897511"/>
              <a:gd name="connsiteX87" fmla="*/ 372533 w 9335911"/>
              <a:gd name="connsiteY87" fmla="*/ 6739466 h 6897511"/>
              <a:gd name="connsiteX88" fmla="*/ 316089 w 9335911"/>
              <a:gd name="connsiteY88" fmla="*/ 6705600 h 6897511"/>
              <a:gd name="connsiteX89" fmla="*/ 259644 w 9335911"/>
              <a:gd name="connsiteY89" fmla="*/ 6558844 h 6897511"/>
              <a:gd name="connsiteX90" fmla="*/ 214489 w 9335911"/>
              <a:gd name="connsiteY90" fmla="*/ 6445955 h 6897511"/>
              <a:gd name="connsiteX91" fmla="*/ 180622 w 9335911"/>
              <a:gd name="connsiteY91" fmla="*/ 6378222 h 6897511"/>
              <a:gd name="connsiteX92" fmla="*/ 146755 w 9335911"/>
              <a:gd name="connsiteY92" fmla="*/ 6321777 h 6897511"/>
              <a:gd name="connsiteX93" fmla="*/ 79022 w 9335911"/>
              <a:gd name="connsiteY93" fmla="*/ 6073422 h 6897511"/>
              <a:gd name="connsiteX94" fmla="*/ 33866 w 9335911"/>
              <a:gd name="connsiteY94" fmla="*/ 5858933 h 6897511"/>
              <a:gd name="connsiteX95" fmla="*/ 22578 w 9335911"/>
              <a:gd name="connsiteY95" fmla="*/ 5712177 h 6897511"/>
              <a:gd name="connsiteX96" fmla="*/ 0 w 9335911"/>
              <a:gd name="connsiteY96" fmla="*/ 5463822 h 6897511"/>
              <a:gd name="connsiteX97" fmla="*/ 22578 w 9335911"/>
              <a:gd name="connsiteY97" fmla="*/ 5102577 h 6897511"/>
              <a:gd name="connsiteX98" fmla="*/ 33866 w 9335911"/>
              <a:gd name="connsiteY98" fmla="*/ 5046133 h 6897511"/>
              <a:gd name="connsiteX99" fmla="*/ 67733 w 9335911"/>
              <a:gd name="connsiteY99" fmla="*/ 4989689 h 6897511"/>
              <a:gd name="connsiteX100" fmla="*/ 79022 w 9335911"/>
              <a:gd name="connsiteY100" fmla="*/ 4955822 h 6897511"/>
              <a:gd name="connsiteX101" fmla="*/ 101600 w 9335911"/>
              <a:gd name="connsiteY101" fmla="*/ 4921955 h 6897511"/>
              <a:gd name="connsiteX102" fmla="*/ 124178 w 9335911"/>
              <a:gd name="connsiteY102" fmla="*/ 4876800 h 6897511"/>
              <a:gd name="connsiteX103" fmla="*/ 214489 w 9335911"/>
              <a:gd name="connsiteY103" fmla="*/ 4718755 h 6897511"/>
              <a:gd name="connsiteX104" fmla="*/ 259644 w 9335911"/>
              <a:gd name="connsiteY104" fmla="*/ 4583289 h 6897511"/>
              <a:gd name="connsiteX105" fmla="*/ 282222 w 9335911"/>
              <a:gd name="connsiteY105" fmla="*/ 4515555 h 6897511"/>
              <a:gd name="connsiteX106" fmla="*/ 327378 w 9335911"/>
              <a:gd name="connsiteY106" fmla="*/ 4413955 h 6897511"/>
              <a:gd name="connsiteX107" fmla="*/ 349955 w 9335911"/>
              <a:gd name="connsiteY107" fmla="*/ 4301066 h 6897511"/>
              <a:gd name="connsiteX108" fmla="*/ 383822 w 9335911"/>
              <a:gd name="connsiteY108" fmla="*/ 4199466 h 6897511"/>
              <a:gd name="connsiteX109" fmla="*/ 406400 w 9335911"/>
              <a:gd name="connsiteY109" fmla="*/ 3996266 h 6897511"/>
              <a:gd name="connsiteX110" fmla="*/ 417689 w 9335911"/>
              <a:gd name="connsiteY110" fmla="*/ 3386666 h 6897511"/>
              <a:gd name="connsiteX111" fmla="*/ 440266 w 9335911"/>
              <a:gd name="connsiteY111" fmla="*/ 3341511 h 6897511"/>
              <a:gd name="connsiteX112" fmla="*/ 496711 w 9335911"/>
              <a:gd name="connsiteY112" fmla="*/ 3273777 h 6897511"/>
              <a:gd name="connsiteX113" fmla="*/ 519289 w 9335911"/>
              <a:gd name="connsiteY113" fmla="*/ 3285066 h 689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9335911" h="6897511">
                <a:moveTo>
                  <a:pt x="519289" y="3285066"/>
                </a:moveTo>
                <a:lnTo>
                  <a:pt x="519289" y="3285066"/>
                </a:lnTo>
                <a:lnTo>
                  <a:pt x="959555" y="3273777"/>
                </a:lnTo>
                <a:cubicBezTo>
                  <a:pt x="1068699" y="3270567"/>
                  <a:pt x="1177742" y="3262489"/>
                  <a:pt x="1286933" y="3262489"/>
                </a:cubicBezTo>
                <a:cubicBezTo>
                  <a:pt x="1426214" y="3262489"/>
                  <a:pt x="1565392" y="3270014"/>
                  <a:pt x="1704622" y="3273777"/>
                </a:cubicBezTo>
                <a:cubicBezTo>
                  <a:pt x="1812590" y="3230591"/>
                  <a:pt x="1714357" y="3263645"/>
                  <a:pt x="1885244" y="3239911"/>
                </a:cubicBezTo>
                <a:cubicBezTo>
                  <a:pt x="1979609" y="3226805"/>
                  <a:pt x="2167466" y="3194755"/>
                  <a:pt x="2167466" y="3194755"/>
                </a:cubicBezTo>
                <a:cubicBezTo>
                  <a:pt x="2286326" y="3135325"/>
                  <a:pt x="2145890" y="3200010"/>
                  <a:pt x="2415822" y="3138311"/>
                </a:cubicBezTo>
                <a:cubicBezTo>
                  <a:pt x="2480825" y="3123453"/>
                  <a:pt x="2543763" y="3100681"/>
                  <a:pt x="2607733" y="3081866"/>
                </a:cubicBezTo>
                <a:cubicBezTo>
                  <a:pt x="2748741" y="2976113"/>
                  <a:pt x="2534556" y="3132541"/>
                  <a:pt x="2720622" y="3014133"/>
                </a:cubicBezTo>
                <a:cubicBezTo>
                  <a:pt x="2760805" y="2988562"/>
                  <a:pt x="2789079" y="2956964"/>
                  <a:pt x="2822222" y="2923822"/>
                </a:cubicBezTo>
                <a:cubicBezTo>
                  <a:pt x="2833511" y="2897481"/>
                  <a:pt x="2840592" y="2868906"/>
                  <a:pt x="2856089" y="2844800"/>
                </a:cubicBezTo>
                <a:cubicBezTo>
                  <a:pt x="2896200" y="2782405"/>
                  <a:pt x="2967185" y="2730238"/>
                  <a:pt x="3014133" y="2675466"/>
                </a:cubicBezTo>
                <a:cubicBezTo>
                  <a:pt x="3031792" y="2654864"/>
                  <a:pt x="3042630" y="2629152"/>
                  <a:pt x="3059289" y="2607733"/>
                </a:cubicBezTo>
                <a:cubicBezTo>
                  <a:pt x="3069090" y="2595131"/>
                  <a:pt x="3083182" y="2586332"/>
                  <a:pt x="3093155" y="2573866"/>
                </a:cubicBezTo>
                <a:cubicBezTo>
                  <a:pt x="3113377" y="2548589"/>
                  <a:pt x="3127513" y="2518508"/>
                  <a:pt x="3149600" y="2494844"/>
                </a:cubicBezTo>
                <a:cubicBezTo>
                  <a:pt x="3332241" y="2299159"/>
                  <a:pt x="3176020" y="2528126"/>
                  <a:pt x="3364089" y="2257777"/>
                </a:cubicBezTo>
                <a:cubicBezTo>
                  <a:pt x="3433399" y="2158144"/>
                  <a:pt x="3457311" y="2099376"/>
                  <a:pt x="3488266" y="1975555"/>
                </a:cubicBezTo>
                <a:cubicBezTo>
                  <a:pt x="3526576" y="1822316"/>
                  <a:pt x="3548305" y="1665100"/>
                  <a:pt x="3589866" y="1512711"/>
                </a:cubicBezTo>
                <a:lnTo>
                  <a:pt x="3623733" y="1388533"/>
                </a:lnTo>
                <a:cubicBezTo>
                  <a:pt x="3650594" y="1173647"/>
                  <a:pt x="3608028" y="1448827"/>
                  <a:pt x="3691466" y="1162755"/>
                </a:cubicBezTo>
                <a:cubicBezTo>
                  <a:pt x="3704284" y="1118808"/>
                  <a:pt x="3704113" y="1071977"/>
                  <a:pt x="3714044" y="1027289"/>
                </a:cubicBezTo>
                <a:cubicBezTo>
                  <a:pt x="3719207" y="1004056"/>
                  <a:pt x="3729623" y="982302"/>
                  <a:pt x="3736622" y="959555"/>
                </a:cubicBezTo>
                <a:cubicBezTo>
                  <a:pt x="3796459" y="765085"/>
                  <a:pt x="3716220" y="1005393"/>
                  <a:pt x="3793066" y="790222"/>
                </a:cubicBezTo>
                <a:cubicBezTo>
                  <a:pt x="3819872" y="715165"/>
                  <a:pt x="3821046" y="686167"/>
                  <a:pt x="3872089" y="609600"/>
                </a:cubicBezTo>
                <a:cubicBezTo>
                  <a:pt x="3887141" y="587022"/>
                  <a:pt x="3908663" y="567609"/>
                  <a:pt x="3917244" y="541866"/>
                </a:cubicBezTo>
                <a:cubicBezTo>
                  <a:pt x="3935265" y="487806"/>
                  <a:pt x="3920119" y="516414"/>
                  <a:pt x="3973689" y="462844"/>
                </a:cubicBezTo>
                <a:cubicBezTo>
                  <a:pt x="3991029" y="393487"/>
                  <a:pt x="3971766" y="437626"/>
                  <a:pt x="4018844" y="383822"/>
                </a:cubicBezTo>
                <a:cubicBezTo>
                  <a:pt x="4056230" y="341094"/>
                  <a:pt x="4058718" y="327066"/>
                  <a:pt x="4097866" y="293511"/>
                </a:cubicBezTo>
                <a:cubicBezTo>
                  <a:pt x="4112151" y="281266"/>
                  <a:pt x="4126193" y="268058"/>
                  <a:pt x="4143022" y="259644"/>
                </a:cubicBezTo>
                <a:cubicBezTo>
                  <a:pt x="4185861" y="238225"/>
                  <a:pt x="4340552" y="206482"/>
                  <a:pt x="4357511" y="203200"/>
                </a:cubicBezTo>
                <a:cubicBezTo>
                  <a:pt x="4424928" y="190152"/>
                  <a:pt x="4493279" y="182301"/>
                  <a:pt x="4560711" y="169333"/>
                </a:cubicBezTo>
                <a:cubicBezTo>
                  <a:pt x="4591183" y="163473"/>
                  <a:pt x="4620681" y="153257"/>
                  <a:pt x="4651022" y="146755"/>
                </a:cubicBezTo>
                <a:cubicBezTo>
                  <a:pt x="4726068" y="130674"/>
                  <a:pt x="4800999" y="113632"/>
                  <a:pt x="4876800" y="101600"/>
                </a:cubicBezTo>
                <a:cubicBezTo>
                  <a:pt x="5038155" y="75988"/>
                  <a:pt x="5201070" y="60724"/>
                  <a:pt x="5362222" y="33866"/>
                </a:cubicBezTo>
                <a:lnTo>
                  <a:pt x="5565422" y="0"/>
                </a:lnTo>
                <a:lnTo>
                  <a:pt x="5870222" y="33866"/>
                </a:lnTo>
                <a:cubicBezTo>
                  <a:pt x="5900364" y="37311"/>
                  <a:pt x="5930205" y="44367"/>
                  <a:pt x="5960533" y="45155"/>
                </a:cubicBezTo>
                <a:cubicBezTo>
                  <a:pt x="6220117" y="51898"/>
                  <a:pt x="6479822" y="52681"/>
                  <a:pt x="6739466" y="56444"/>
                </a:cubicBezTo>
                <a:lnTo>
                  <a:pt x="8195733" y="45155"/>
                </a:lnTo>
                <a:cubicBezTo>
                  <a:pt x="8211246" y="44922"/>
                  <a:pt x="8225419" y="32676"/>
                  <a:pt x="8240889" y="33866"/>
                </a:cubicBezTo>
                <a:cubicBezTo>
                  <a:pt x="8324194" y="40274"/>
                  <a:pt x="8406595" y="55489"/>
                  <a:pt x="8489244" y="67733"/>
                </a:cubicBezTo>
                <a:cubicBezTo>
                  <a:pt x="8565572" y="79041"/>
                  <a:pt x="8608185" y="100103"/>
                  <a:pt x="8692444" y="124177"/>
                </a:cubicBezTo>
                <a:cubicBezTo>
                  <a:pt x="8722280" y="132702"/>
                  <a:pt x="8752651" y="139229"/>
                  <a:pt x="8782755" y="146755"/>
                </a:cubicBezTo>
                <a:cubicBezTo>
                  <a:pt x="8790281" y="158044"/>
                  <a:pt x="8795739" y="171028"/>
                  <a:pt x="8805333" y="180622"/>
                </a:cubicBezTo>
                <a:cubicBezTo>
                  <a:pt x="8814927" y="190216"/>
                  <a:pt x="8830928" y="192446"/>
                  <a:pt x="8839200" y="203200"/>
                </a:cubicBezTo>
                <a:cubicBezTo>
                  <a:pt x="8869114" y="242088"/>
                  <a:pt x="8891691" y="286106"/>
                  <a:pt x="8918222" y="327377"/>
                </a:cubicBezTo>
                <a:cubicBezTo>
                  <a:pt x="8925559" y="338790"/>
                  <a:pt x="8929946" y="353103"/>
                  <a:pt x="8940800" y="361244"/>
                </a:cubicBezTo>
                <a:cubicBezTo>
                  <a:pt x="8969074" y="382450"/>
                  <a:pt x="8997812" y="400678"/>
                  <a:pt x="9019822" y="428977"/>
                </a:cubicBezTo>
                <a:cubicBezTo>
                  <a:pt x="9036482" y="450396"/>
                  <a:pt x="9051017" y="473443"/>
                  <a:pt x="9064978" y="496711"/>
                </a:cubicBezTo>
                <a:cubicBezTo>
                  <a:pt x="9076267" y="515526"/>
                  <a:pt x="9090405" y="532901"/>
                  <a:pt x="9098844" y="553155"/>
                </a:cubicBezTo>
                <a:cubicBezTo>
                  <a:pt x="9241835" y="896336"/>
                  <a:pt x="9137339" y="657354"/>
                  <a:pt x="9200444" y="846666"/>
                </a:cubicBezTo>
                <a:cubicBezTo>
                  <a:pt x="9210611" y="877167"/>
                  <a:pt x="9223022" y="906873"/>
                  <a:pt x="9234311" y="936977"/>
                </a:cubicBezTo>
                <a:cubicBezTo>
                  <a:pt x="9305516" y="1349967"/>
                  <a:pt x="9281162" y="1154035"/>
                  <a:pt x="9313333" y="1524000"/>
                </a:cubicBezTo>
                <a:cubicBezTo>
                  <a:pt x="9323368" y="1905313"/>
                  <a:pt x="9333402" y="2000641"/>
                  <a:pt x="9313333" y="2381955"/>
                </a:cubicBezTo>
                <a:cubicBezTo>
                  <a:pt x="9309554" y="2453747"/>
                  <a:pt x="9297414" y="2524862"/>
                  <a:pt x="9290755" y="2596444"/>
                </a:cubicBezTo>
                <a:cubicBezTo>
                  <a:pt x="9282361" y="2686678"/>
                  <a:pt x="9274485" y="2776973"/>
                  <a:pt x="9268178" y="2867377"/>
                </a:cubicBezTo>
                <a:cubicBezTo>
                  <a:pt x="9263195" y="2938799"/>
                  <a:pt x="9261355" y="3010410"/>
                  <a:pt x="9256889" y="3081866"/>
                </a:cubicBezTo>
                <a:cubicBezTo>
                  <a:pt x="9222692" y="3629005"/>
                  <a:pt x="9243327" y="3192872"/>
                  <a:pt x="9223022" y="3680177"/>
                </a:cubicBezTo>
                <a:cubicBezTo>
                  <a:pt x="9226785" y="3774251"/>
                  <a:pt x="9229088" y="3868395"/>
                  <a:pt x="9234311" y="3962400"/>
                </a:cubicBezTo>
                <a:cubicBezTo>
                  <a:pt x="9236617" y="4003899"/>
                  <a:pt x="9244687" y="4045024"/>
                  <a:pt x="9245600" y="4086577"/>
                </a:cubicBezTo>
                <a:cubicBezTo>
                  <a:pt x="9252215" y="4387565"/>
                  <a:pt x="9247582" y="4688772"/>
                  <a:pt x="9256889" y="4989689"/>
                </a:cubicBezTo>
                <a:cubicBezTo>
                  <a:pt x="9258880" y="5054070"/>
                  <a:pt x="9273212" y="5117493"/>
                  <a:pt x="9279466" y="5181600"/>
                </a:cubicBezTo>
                <a:cubicBezTo>
                  <a:pt x="9314123" y="5536840"/>
                  <a:pt x="9277284" y="5345241"/>
                  <a:pt x="9335911" y="5599289"/>
                </a:cubicBezTo>
                <a:cubicBezTo>
                  <a:pt x="9332148" y="5776148"/>
                  <a:pt x="9330936" y="5953080"/>
                  <a:pt x="9324622" y="6129866"/>
                </a:cubicBezTo>
                <a:cubicBezTo>
                  <a:pt x="9323406" y="6163919"/>
                  <a:pt x="9319613" y="6197975"/>
                  <a:pt x="9313333" y="6231466"/>
                </a:cubicBezTo>
                <a:cubicBezTo>
                  <a:pt x="9308284" y="6258392"/>
                  <a:pt x="9296915" y="6283796"/>
                  <a:pt x="9290755" y="6310489"/>
                </a:cubicBezTo>
                <a:cubicBezTo>
                  <a:pt x="9285608" y="6332792"/>
                  <a:pt x="9286704" y="6356507"/>
                  <a:pt x="9279466" y="6378222"/>
                </a:cubicBezTo>
                <a:cubicBezTo>
                  <a:pt x="9275176" y="6391093"/>
                  <a:pt x="9263620" y="6400309"/>
                  <a:pt x="9256889" y="6412089"/>
                </a:cubicBezTo>
                <a:cubicBezTo>
                  <a:pt x="9248540" y="6426700"/>
                  <a:pt x="9245491" y="6444666"/>
                  <a:pt x="9234311" y="6457244"/>
                </a:cubicBezTo>
                <a:cubicBezTo>
                  <a:pt x="9193634" y="6503006"/>
                  <a:pt x="9083284" y="6568181"/>
                  <a:pt x="9042400" y="6592711"/>
                </a:cubicBezTo>
                <a:cubicBezTo>
                  <a:pt x="8893324" y="6682156"/>
                  <a:pt x="8989219" y="6625489"/>
                  <a:pt x="8816622" y="6683022"/>
                </a:cubicBezTo>
                <a:cubicBezTo>
                  <a:pt x="8789435" y="6692084"/>
                  <a:pt x="8765212" y="6709219"/>
                  <a:pt x="8737600" y="6716889"/>
                </a:cubicBezTo>
                <a:cubicBezTo>
                  <a:pt x="8697064" y="6728149"/>
                  <a:pt x="8654591" y="6730799"/>
                  <a:pt x="8613422" y="6739466"/>
                </a:cubicBezTo>
                <a:cubicBezTo>
                  <a:pt x="8354624" y="6793949"/>
                  <a:pt x="8761581" y="6746659"/>
                  <a:pt x="8173155" y="6784622"/>
                </a:cubicBezTo>
                <a:cubicBezTo>
                  <a:pt x="7668727" y="6860287"/>
                  <a:pt x="8170331" y="6797687"/>
                  <a:pt x="7247466" y="6807200"/>
                </a:cubicBezTo>
                <a:cubicBezTo>
                  <a:pt x="7242048" y="6807256"/>
                  <a:pt x="6806808" y="6830601"/>
                  <a:pt x="6694311" y="6841066"/>
                </a:cubicBezTo>
                <a:cubicBezTo>
                  <a:pt x="6585074" y="6851228"/>
                  <a:pt x="6476372" y="6867253"/>
                  <a:pt x="6366933" y="6874933"/>
                </a:cubicBezTo>
                <a:cubicBezTo>
                  <a:pt x="6261761" y="6882314"/>
                  <a:pt x="6156186" y="6881922"/>
                  <a:pt x="6050844" y="6886222"/>
                </a:cubicBezTo>
                <a:lnTo>
                  <a:pt x="5813778" y="6897511"/>
                </a:lnTo>
                <a:cubicBezTo>
                  <a:pt x="5358459" y="6889985"/>
                  <a:pt x="4902839" y="6893134"/>
                  <a:pt x="4447822" y="6874933"/>
                </a:cubicBezTo>
                <a:lnTo>
                  <a:pt x="4165600" y="6863644"/>
                </a:lnTo>
                <a:cubicBezTo>
                  <a:pt x="4097835" y="6860492"/>
                  <a:pt x="4030233" y="6853167"/>
                  <a:pt x="3962400" y="6852355"/>
                </a:cubicBezTo>
                <a:lnTo>
                  <a:pt x="2280355" y="6841066"/>
                </a:lnTo>
                <a:cubicBezTo>
                  <a:pt x="2193807" y="6837303"/>
                  <a:pt x="2107318" y="6831760"/>
                  <a:pt x="2020711" y="6829777"/>
                </a:cubicBezTo>
                <a:lnTo>
                  <a:pt x="801511" y="6807200"/>
                </a:lnTo>
                <a:lnTo>
                  <a:pt x="587022" y="6784622"/>
                </a:lnTo>
                <a:cubicBezTo>
                  <a:pt x="519374" y="6776166"/>
                  <a:pt x="437871" y="6769165"/>
                  <a:pt x="372533" y="6739466"/>
                </a:cubicBezTo>
                <a:cubicBezTo>
                  <a:pt x="352558" y="6730387"/>
                  <a:pt x="334904" y="6716889"/>
                  <a:pt x="316089" y="6705600"/>
                </a:cubicBezTo>
                <a:cubicBezTo>
                  <a:pt x="274798" y="6561082"/>
                  <a:pt x="316615" y="6689064"/>
                  <a:pt x="259644" y="6558844"/>
                </a:cubicBezTo>
                <a:cubicBezTo>
                  <a:pt x="243400" y="6521714"/>
                  <a:pt x="232614" y="6482205"/>
                  <a:pt x="214489" y="6445955"/>
                </a:cubicBezTo>
                <a:cubicBezTo>
                  <a:pt x="203200" y="6423377"/>
                  <a:pt x="192710" y="6400382"/>
                  <a:pt x="180622" y="6378222"/>
                </a:cubicBezTo>
                <a:cubicBezTo>
                  <a:pt x="170115" y="6358959"/>
                  <a:pt x="155109" y="6342066"/>
                  <a:pt x="146755" y="6321777"/>
                </a:cubicBezTo>
                <a:cubicBezTo>
                  <a:pt x="95715" y="6197823"/>
                  <a:pt x="105896" y="6194352"/>
                  <a:pt x="79022" y="6073422"/>
                </a:cubicBezTo>
                <a:cubicBezTo>
                  <a:pt x="29849" y="5852146"/>
                  <a:pt x="84218" y="6135867"/>
                  <a:pt x="33866" y="5858933"/>
                </a:cubicBezTo>
                <a:cubicBezTo>
                  <a:pt x="30103" y="5810014"/>
                  <a:pt x="26768" y="5761061"/>
                  <a:pt x="22578" y="5712177"/>
                </a:cubicBezTo>
                <a:cubicBezTo>
                  <a:pt x="15479" y="5629354"/>
                  <a:pt x="0" y="5463822"/>
                  <a:pt x="0" y="5463822"/>
                </a:cubicBezTo>
                <a:cubicBezTo>
                  <a:pt x="17174" y="4982964"/>
                  <a:pt x="-15066" y="5271981"/>
                  <a:pt x="22578" y="5102577"/>
                </a:cubicBezTo>
                <a:cubicBezTo>
                  <a:pt x="26740" y="5083847"/>
                  <a:pt x="26740" y="5063948"/>
                  <a:pt x="33866" y="5046133"/>
                </a:cubicBezTo>
                <a:cubicBezTo>
                  <a:pt x="42015" y="5025761"/>
                  <a:pt x="57920" y="5009314"/>
                  <a:pt x="67733" y="4989689"/>
                </a:cubicBezTo>
                <a:cubicBezTo>
                  <a:pt x="73055" y="4979046"/>
                  <a:pt x="73700" y="4966465"/>
                  <a:pt x="79022" y="4955822"/>
                </a:cubicBezTo>
                <a:cubicBezTo>
                  <a:pt x="85090" y="4943687"/>
                  <a:pt x="94868" y="4933735"/>
                  <a:pt x="101600" y="4921955"/>
                </a:cubicBezTo>
                <a:cubicBezTo>
                  <a:pt x="109949" y="4907344"/>
                  <a:pt x="115699" y="4891336"/>
                  <a:pt x="124178" y="4876800"/>
                </a:cubicBezTo>
                <a:cubicBezTo>
                  <a:pt x="156673" y="4821095"/>
                  <a:pt x="191289" y="4778412"/>
                  <a:pt x="214489" y="4718755"/>
                </a:cubicBezTo>
                <a:cubicBezTo>
                  <a:pt x="231741" y="4674394"/>
                  <a:pt x="244592" y="4628444"/>
                  <a:pt x="259644" y="4583289"/>
                </a:cubicBezTo>
                <a:cubicBezTo>
                  <a:pt x="267170" y="4560711"/>
                  <a:pt x="272556" y="4537303"/>
                  <a:pt x="282222" y="4515555"/>
                </a:cubicBezTo>
                <a:lnTo>
                  <a:pt x="327378" y="4413955"/>
                </a:lnTo>
                <a:cubicBezTo>
                  <a:pt x="334904" y="4376325"/>
                  <a:pt x="340189" y="4338177"/>
                  <a:pt x="349955" y="4301066"/>
                </a:cubicBezTo>
                <a:cubicBezTo>
                  <a:pt x="359040" y="4266543"/>
                  <a:pt x="377322" y="4234568"/>
                  <a:pt x="383822" y="4199466"/>
                </a:cubicBezTo>
                <a:cubicBezTo>
                  <a:pt x="396232" y="4132455"/>
                  <a:pt x="398874" y="4063999"/>
                  <a:pt x="406400" y="3996266"/>
                </a:cubicBezTo>
                <a:cubicBezTo>
                  <a:pt x="410163" y="3793066"/>
                  <a:pt x="407191" y="3589630"/>
                  <a:pt x="417689" y="3386666"/>
                </a:cubicBezTo>
                <a:cubicBezTo>
                  <a:pt x="418558" y="3369860"/>
                  <a:pt x="431917" y="3356122"/>
                  <a:pt x="440266" y="3341511"/>
                </a:cubicBezTo>
                <a:cubicBezTo>
                  <a:pt x="452019" y="3320942"/>
                  <a:pt x="476408" y="3285959"/>
                  <a:pt x="496711" y="3273777"/>
                </a:cubicBezTo>
                <a:cubicBezTo>
                  <a:pt x="503164" y="3269905"/>
                  <a:pt x="511763" y="3273777"/>
                  <a:pt x="519289" y="3285066"/>
                </a:cubicBezTo>
                <a:close/>
              </a:path>
            </a:pathLst>
          </a:custGeom>
          <a:solidFill>
            <a:srgbClr val="495759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0B9352-22EF-DBB1-9485-A4F507F05903}"/>
              </a:ext>
            </a:extLst>
          </p:cNvPr>
          <p:cNvSpPr/>
          <p:nvPr/>
        </p:nvSpPr>
        <p:spPr>
          <a:xfrm>
            <a:off x="11358642" y="184540"/>
            <a:ext cx="827603" cy="6673460"/>
          </a:xfrm>
          <a:prstGeom prst="rect">
            <a:avLst/>
          </a:prstGeom>
          <a:solidFill>
            <a:srgbClr val="495759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4FF1515-D75D-97E7-9962-3310AAC36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156" y="1173488"/>
            <a:ext cx="5541688" cy="451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06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57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72E25A-22AC-0783-0948-F86D1BD05A4A}"/>
              </a:ext>
            </a:extLst>
          </p:cNvPr>
          <p:cNvSpPr txBox="1"/>
          <p:nvPr/>
        </p:nvSpPr>
        <p:spPr>
          <a:xfrm>
            <a:off x="1973443" y="3962400"/>
            <a:ext cx="345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7E2D7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Automation &lt;-&gt; Flexibility </a:t>
            </a:r>
          </a:p>
          <a:p>
            <a:pPr algn="ctr"/>
            <a:r>
              <a:rPr lang="en-US" sz="2000" dirty="0">
                <a:solidFill>
                  <a:srgbClr val="F7E2D7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Spectrum</a:t>
            </a:r>
          </a:p>
        </p:txBody>
      </p:sp>
      <p:pic>
        <p:nvPicPr>
          <p:cNvPr id="8" name="Graphic 7" descr="Robot outline">
            <a:extLst>
              <a:ext uri="{FF2B5EF4-FFF2-40B4-BE49-F238E27FC236}">
                <a16:creationId xmlns:a16="http://schemas.microsoft.com/office/drawing/2014/main" id="{DAE5209B-8B36-11C6-32B2-BFC4DC7E4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4457" y="2333534"/>
            <a:ext cx="1394936" cy="13949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527150-B9E3-0109-A8B8-1100025E4A1C}"/>
              </a:ext>
            </a:extLst>
          </p:cNvPr>
          <p:cNvSpPr txBox="1"/>
          <p:nvPr/>
        </p:nvSpPr>
        <p:spPr>
          <a:xfrm>
            <a:off x="5914073" y="3995057"/>
            <a:ext cx="3458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7E2D7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Updated Design + LaTeX</a:t>
            </a:r>
          </a:p>
        </p:txBody>
      </p:sp>
      <p:pic>
        <p:nvPicPr>
          <p:cNvPr id="11" name="Graphic 10" descr="Contract with solid fill">
            <a:extLst>
              <a:ext uri="{FF2B5EF4-FFF2-40B4-BE49-F238E27FC236}">
                <a16:creationId xmlns:a16="http://schemas.microsoft.com/office/drawing/2014/main" id="{3AEC4C20-4C43-80F5-CFED-5D8695C1E5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1932" y="2665661"/>
            <a:ext cx="1062809" cy="106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24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B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49A7AD-3CFA-D368-3310-6248AC594966}"/>
              </a:ext>
            </a:extLst>
          </p:cNvPr>
          <p:cNvSpPr txBox="1"/>
          <p:nvPr/>
        </p:nvSpPr>
        <p:spPr>
          <a:xfrm>
            <a:off x="1863817" y="1536174"/>
            <a:ext cx="84643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495759"/>
                </a:solidFill>
                <a:latin typeface="Tobias Light" pitchFamily="50" charset="0"/>
              </a:rPr>
              <a:t>“We need it to be automated, but also need to pick and choose which date ranges we want to run reports for…”</a:t>
            </a:r>
          </a:p>
        </p:txBody>
      </p:sp>
    </p:spTree>
    <p:extLst>
      <p:ext uri="{BB962C8B-B14F-4D97-AF65-F5344CB8AC3E}">
        <p14:creationId xmlns:p14="http://schemas.microsoft.com/office/powerpoint/2010/main" val="1569307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3F5E7C-E57C-465B-4896-0FCBC4665BFC}"/>
              </a:ext>
            </a:extLst>
          </p:cNvPr>
          <p:cNvSpPr txBox="1"/>
          <p:nvPr/>
        </p:nvSpPr>
        <p:spPr>
          <a:xfrm>
            <a:off x="359231" y="3429000"/>
            <a:ext cx="1991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Set up a filter window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20190-3989-987F-6E80-5C7F5D97BC15}"/>
              </a:ext>
            </a:extLst>
          </p:cNvPr>
          <p:cNvSpPr txBox="1"/>
          <p:nvPr/>
        </p:nvSpPr>
        <p:spPr>
          <a:xfrm>
            <a:off x="359231" y="495691"/>
            <a:ext cx="1970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Read in all the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C846F-9374-5209-2553-9A2C08410E69}"/>
              </a:ext>
            </a:extLst>
          </p:cNvPr>
          <p:cNvSpPr txBox="1"/>
          <p:nvPr/>
        </p:nvSpPr>
        <p:spPr>
          <a:xfrm>
            <a:off x="359231" y="4946578"/>
            <a:ext cx="1991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Inform end-users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4607EF-35FC-187D-71B6-02917CB169C5}"/>
              </a:ext>
            </a:extLst>
          </p:cNvPr>
          <p:cNvSpPr txBox="1"/>
          <p:nvPr/>
        </p:nvSpPr>
        <p:spPr>
          <a:xfrm>
            <a:off x="359231" y="5540828"/>
            <a:ext cx="19707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Pass IDs on to the rest of the automation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7DA282-7856-2BA3-1F6C-9FACCCA798CD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329994" y="818856"/>
            <a:ext cx="1915435" cy="1"/>
          </a:xfrm>
          <a:prstGeom prst="line">
            <a:avLst/>
          </a:prstGeom>
          <a:ln w="19050">
            <a:solidFill>
              <a:srgbClr val="495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FFBEDB-3DFD-FA12-445B-0CFF060ED9F7}"/>
              </a:ext>
            </a:extLst>
          </p:cNvPr>
          <p:cNvCxnSpPr>
            <a:cxnSpLocks/>
          </p:cNvCxnSpPr>
          <p:nvPr/>
        </p:nvCxnSpPr>
        <p:spPr>
          <a:xfrm>
            <a:off x="4245429" y="598714"/>
            <a:ext cx="0" cy="2525486"/>
          </a:xfrm>
          <a:prstGeom prst="line">
            <a:avLst/>
          </a:prstGeom>
          <a:ln w="19050">
            <a:solidFill>
              <a:srgbClr val="495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4278E7-3ED0-7AF4-B518-F3474CE48EAE}"/>
              </a:ext>
            </a:extLst>
          </p:cNvPr>
          <p:cNvCxnSpPr>
            <a:cxnSpLocks/>
          </p:cNvCxnSpPr>
          <p:nvPr/>
        </p:nvCxnSpPr>
        <p:spPr>
          <a:xfrm>
            <a:off x="2329993" y="3752166"/>
            <a:ext cx="1915436" cy="0"/>
          </a:xfrm>
          <a:prstGeom prst="line">
            <a:avLst/>
          </a:prstGeom>
          <a:ln w="19050">
            <a:solidFill>
              <a:srgbClr val="495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8890CF-F296-2F8E-C6C8-829E6E8ED6CF}"/>
              </a:ext>
            </a:extLst>
          </p:cNvPr>
          <p:cNvCxnSpPr>
            <a:cxnSpLocks/>
          </p:cNvCxnSpPr>
          <p:nvPr/>
        </p:nvCxnSpPr>
        <p:spPr>
          <a:xfrm>
            <a:off x="4245429" y="3477007"/>
            <a:ext cx="0" cy="1203850"/>
          </a:xfrm>
          <a:prstGeom prst="line">
            <a:avLst/>
          </a:prstGeom>
          <a:ln w="19050">
            <a:solidFill>
              <a:srgbClr val="495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98BA16B-A6BF-842C-0589-1589618B5816}"/>
              </a:ext>
            </a:extLst>
          </p:cNvPr>
          <p:cNvCxnSpPr>
            <a:cxnSpLocks/>
          </p:cNvCxnSpPr>
          <p:nvPr/>
        </p:nvCxnSpPr>
        <p:spPr>
          <a:xfrm>
            <a:off x="2329993" y="5131245"/>
            <a:ext cx="1915436" cy="0"/>
          </a:xfrm>
          <a:prstGeom prst="line">
            <a:avLst/>
          </a:prstGeom>
          <a:ln w="19050">
            <a:solidFill>
              <a:srgbClr val="495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9193B9-26DC-A6EE-F942-AFE40AEC5175}"/>
              </a:ext>
            </a:extLst>
          </p:cNvPr>
          <p:cNvCxnSpPr>
            <a:cxnSpLocks/>
          </p:cNvCxnSpPr>
          <p:nvPr/>
        </p:nvCxnSpPr>
        <p:spPr>
          <a:xfrm>
            <a:off x="4245429" y="4852485"/>
            <a:ext cx="0" cy="1831344"/>
          </a:xfrm>
          <a:prstGeom prst="line">
            <a:avLst/>
          </a:prstGeom>
          <a:ln w="19050">
            <a:solidFill>
              <a:srgbClr val="495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F5CFC0-D513-8B58-8F76-9D886693C38B}"/>
              </a:ext>
            </a:extLst>
          </p:cNvPr>
          <p:cNvCxnSpPr>
            <a:cxnSpLocks/>
          </p:cNvCxnSpPr>
          <p:nvPr/>
        </p:nvCxnSpPr>
        <p:spPr>
          <a:xfrm>
            <a:off x="2339992" y="6002493"/>
            <a:ext cx="1915436" cy="0"/>
          </a:xfrm>
          <a:prstGeom prst="line">
            <a:avLst/>
          </a:prstGeom>
          <a:ln w="19050">
            <a:solidFill>
              <a:srgbClr val="495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0819D9E4-8568-3A89-6BBA-E47A50189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163" y="1"/>
            <a:ext cx="796600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92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24AFDC-B9F1-87A1-94B2-8ACE2ECA8F0A}"/>
              </a:ext>
            </a:extLst>
          </p:cNvPr>
          <p:cNvSpPr txBox="1"/>
          <p:nvPr/>
        </p:nvSpPr>
        <p:spPr>
          <a:xfrm>
            <a:off x="396734" y="174333"/>
            <a:ext cx="9339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0" u="none" strike="noStrike" dirty="0">
                <a:solidFill>
                  <a:srgbClr val="495759"/>
                </a:solidFill>
                <a:effectLst/>
                <a:latin typeface="Fredoka One" panose="02000000000000000000" pitchFamily="2" charset="77"/>
              </a:rPr>
              <a:t>Why does design matter?</a:t>
            </a:r>
            <a:endParaRPr lang="en-US" sz="4800" dirty="0">
              <a:solidFill>
                <a:srgbClr val="495759"/>
              </a:solidFill>
              <a:latin typeface="Fredoka One" panose="02000000000000000000" pitchFamily="2" charset="77"/>
            </a:endParaRPr>
          </a:p>
        </p:txBody>
      </p:sp>
      <p:pic>
        <p:nvPicPr>
          <p:cNvPr id="4" name="Graphic 3" descr="Shield Tick outline">
            <a:extLst>
              <a:ext uri="{FF2B5EF4-FFF2-40B4-BE49-F238E27FC236}">
                <a16:creationId xmlns:a16="http://schemas.microsoft.com/office/drawing/2014/main" id="{3EFA6A97-A627-D0BD-CA19-375FF9F80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3859" y="2971800"/>
            <a:ext cx="914400" cy="914400"/>
          </a:xfrm>
          <a:prstGeom prst="rect">
            <a:avLst/>
          </a:prstGeom>
        </p:spPr>
      </p:pic>
      <p:pic>
        <p:nvPicPr>
          <p:cNvPr id="6" name="Graphic 5" descr="Briefcase with solid fill">
            <a:extLst>
              <a:ext uri="{FF2B5EF4-FFF2-40B4-BE49-F238E27FC236}">
                <a16:creationId xmlns:a16="http://schemas.microsoft.com/office/drawing/2014/main" id="{C47475BF-D643-1226-1913-F7F9812C8B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800" y="2960370"/>
            <a:ext cx="914400" cy="914400"/>
          </a:xfrm>
          <a:prstGeom prst="rect">
            <a:avLst/>
          </a:prstGeom>
        </p:spPr>
      </p:pic>
      <p:pic>
        <p:nvPicPr>
          <p:cNvPr id="8" name="Graphic 7" descr="Hierarchy outline">
            <a:extLst>
              <a:ext uri="{FF2B5EF4-FFF2-40B4-BE49-F238E27FC236}">
                <a16:creationId xmlns:a16="http://schemas.microsoft.com/office/drawing/2014/main" id="{D10F5645-2BDB-09E7-4579-9F71475CD0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8604" y="2960370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A9C152-210D-EDA9-BDB2-0A0EE8069F54}"/>
              </a:ext>
            </a:extLst>
          </p:cNvPr>
          <p:cNvSpPr txBox="1"/>
          <p:nvPr/>
        </p:nvSpPr>
        <p:spPr>
          <a:xfrm>
            <a:off x="371794" y="4202430"/>
            <a:ext cx="345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Minimal upgrades improve trust and clarity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D14C48-4BF8-26D0-2DEC-CB65FEABFB7A}"/>
              </a:ext>
            </a:extLst>
          </p:cNvPr>
          <p:cNvSpPr txBox="1"/>
          <p:nvPr/>
        </p:nvSpPr>
        <p:spPr>
          <a:xfrm>
            <a:off x="4366735" y="4202430"/>
            <a:ext cx="345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Professional look + upgrades = engagement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3760E0-8768-1CF0-43F5-6BCD6E8CCD4E}"/>
              </a:ext>
            </a:extLst>
          </p:cNvPr>
          <p:cNvSpPr txBox="1"/>
          <p:nvPr/>
        </p:nvSpPr>
        <p:spPr>
          <a:xfrm>
            <a:off x="8006539" y="4202430"/>
            <a:ext cx="345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Internal impacts – faster QA/QC, better experience</a:t>
            </a:r>
          </a:p>
        </p:txBody>
      </p:sp>
    </p:spTree>
    <p:extLst>
      <p:ext uri="{BB962C8B-B14F-4D97-AF65-F5344CB8AC3E}">
        <p14:creationId xmlns:p14="http://schemas.microsoft.com/office/powerpoint/2010/main" val="1418619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44CF780-5473-A1ED-2441-68E0B86782C1}"/>
              </a:ext>
            </a:extLst>
          </p:cNvPr>
          <p:cNvGrpSpPr/>
          <p:nvPr/>
        </p:nvGrpSpPr>
        <p:grpSpPr>
          <a:xfrm>
            <a:off x="364671" y="1110343"/>
            <a:ext cx="5731329" cy="4027714"/>
            <a:chOff x="364671" y="914400"/>
            <a:chExt cx="6289767" cy="4193178"/>
          </a:xfrm>
        </p:grpSpPr>
        <p:pic>
          <p:nvPicPr>
            <p:cNvPr id="8" name="Picture 7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A6B73BB3-A9B5-4A72-5CA5-381C0BCF9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671" y="914400"/>
              <a:ext cx="6289767" cy="4193178"/>
            </a:xfrm>
            <a:prstGeom prst="rect">
              <a:avLst/>
            </a:prstGeom>
            <a:effectLst>
              <a:softEdge rad="101600"/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1FFAE55-E2AA-C268-D51E-17298874F7F1}"/>
                </a:ext>
              </a:extLst>
            </p:cNvPr>
            <p:cNvSpPr/>
            <p:nvPr/>
          </p:nvSpPr>
          <p:spPr>
            <a:xfrm>
              <a:off x="586740" y="2354580"/>
              <a:ext cx="5829300" cy="131064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AFF5F59-3645-DDBE-6441-A9BBB6D8807A}"/>
                </a:ext>
              </a:extLst>
            </p:cNvPr>
            <p:cNvSpPr/>
            <p:nvPr/>
          </p:nvSpPr>
          <p:spPr>
            <a:xfrm>
              <a:off x="586740" y="2286000"/>
              <a:ext cx="5829300" cy="4572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5E800A-9276-7BC1-B748-95E2BD32C835}"/>
                </a:ext>
              </a:extLst>
            </p:cNvPr>
            <p:cNvSpPr/>
            <p:nvPr/>
          </p:nvSpPr>
          <p:spPr>
            <a:xfrm>
              <a:off x="586740" y="3703320"/>
              <a:ext cx="5829300" cy="44958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58A1A11-A292-82E3-C9E3-4444648F3709}"/>
                </a:ext>
              </a:extLst>
            </p:cNvPr>
            <p:cNvSpPr/>
            <p:nvPr/>
          </p:nvSpPr>
          <p:spPr>
            <a:xfrm>
              <a:off x="594904" y="4222933"/>
              <a:ext cx="5829300" cy="310967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E9431B-BDC4-28B2-A347-669F72F4B087}"/>
                </a:ext>
              </a:extLst>
            </p:cNvPr>
            <p:cNvSpPr/>
            <p:nvPr/>
          </p:nvSpPr>
          <p:spPr>
            <a:xfrm>
              <a:off x="587284" y="4573453"/>
              <a:ext cx="5829300" cy="44958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8546F3B-6882-B589-C30B-B8804790BDF9}"/>
                </a:ext>
              </a:extLst>
            </p:cNvPr>
            <p:cNvSpPr txBox="1"/>
            <p:nvPr/>
          </p:nvSpPr>
          <p:spPr>
            <a:xfrm>
              <a:off x="1600200" y="1527488"/>
              <a:ext cx="24993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CFO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7997325-6386-6EDA-C95B-8E8260FE710E}"/>
                </a:ext>
              </a:extLst>
            </p:cNvPr>
            <p:cNvSpPr txBox="1"/>
            <p:nvPr/>
          </p:nvSpPr>
          <p:spPr>
            <a:xfrm>
              <a:off x="1074420" y="1755137"/>
              <a:ext cx="24993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South Africa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C547D34-24CD-A687-099B-DD5356512417}"/>
                </a:ext>
              </a:extLst>
            </p:cNvPr>
            <p:cNvSpPr txBox="1"/>
            <p:nvPr/>
          </p:nvSpPr>
          <p:spPr>
            <a:xfrm>
              <a:off x="1137557" y="1984574"/>
              <a:ext cx="24993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Oscorp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, Inc.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794070BB-8981-30B1-BB5C-20D941404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265" y="0"/>
            <a:ext cx="5495336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9BE3B38-C928-AC48-C301-5ABD022DB89F}"/>
              </a:ext>
            </a:extLst>
          </p:cNvPr>
          <p:cNvSpPr/>
          <p:nvPr/>
        </p:nvSpPr>
        <p:spPr>
          <a:xfrm>
            <a:off x="7078980" y="0"/>
            <a:ext cx="495776" cy="147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35B8C-77A3-54C0-8C5D-5EA0A3635729}"/>
              </a:ext>
            </a:extLst>
          </p:cNvPr>
          <p:cNvSpPr/>
          <p:nvPr/>
        </p:nvSpPr>
        <p:spPr>
          <a:xfrm>
            <a:off x="7967186" y="731044"/>
            <a:ext cx="495776" cy="147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11145B-9D7B-D192-3DAD-F4C7F5BCA9C9}"/>
              </a:ext>
            </a:extLst>
          </p:cNvPr>
          <p:cNvSpPr/>
          <p:nvPr/>
        </p:nvSpPr>
        <p:spPr>
          <a:xfrm>
            <a:off x="8319611" y="1535907"/>
            <a:ext cx="814864" cy="147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25FC08-F0CA-5530-E80E-F471427E60A9}"/>
              </a:ext>
            </a:extLst>
          </p:cNvPr>
          <p:cNvSpPr/>
          <p:nvPr/>
        </p:nvSpPr>
        <p:spPr>
          <a:xfrm>
            <a:off x="7807642" y="1683545"/>
            <a:ext cx="814864" cy="147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6CC4C3-4284-DE45-AF06-E772C2F0B099}"/>
              </a:ext>
            </a:extLst>
          </p:cNvPr>
          <p:cNvSpPr/>
          <p:nvPr/>
        </p:nvSpPr>
        <p:spPr>
          <a:xfrm>
            <a:off x="7912179" y="1891488"/>
            <a:ext cx="1465184" cy="147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835577-7CFB-9F26-A203-7482192827DD}"/>
              </a:ext>
            </a:extLst>
          </p:cNvPr>
          <p:cNvSpPr/>
          <p:nvPr/>
        </p:nvSpPr>
        <p:spPr>
          <a:xfrm>
            <a:off x="8215073" y="2060073"/>
            <a:ext cx="3391139" cy="147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728272-EB06-C883-2DCE-D390429AAB52}"/>
              </a:ext>
            </a:extLst>
          </p:cNvPr>
          <p:cNvSpPr/>
          <p:nvPr/>
        </p:nvSpPr>
        <p:spPr>
          <a:xfrm>
            <a:off x="8215072" y="2247069"/>
            <a:ext cx="3391139" cy="147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14006B-B650-9549-5CAC-7E71ED140DBC}"/>
              </a:ext>
            </a:extLst>
          </p:cNvPr>
          <p:cNvSpPr/>
          <p:nvPr/>
        </p:nvSpPr>
        <p:spPr>
          <a:xfrm>
            <a:off x="8948498" y="2612172"/>
            <a:ext cx="185978" cy="147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1648A4-C22F-5444-26DA-1D98852D3866}"/>
              </a:ext>
            </a:extLst>
          </p:cNvPr>
          <p:cNvSpPr/>
          <p:nvPr/>
        </p:nvSpPr>
        <p:spPr>
          <a:xfrm>
            <a:off x="7388778" y="2853472"/>
            <a:ext cx="814864" cy="1476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E8CDC-7DAA-6C5D-3EFB-B7C3D1D629C2}"/>
              </a:ext>
            </a:extLst>
          </p:cNvPr>
          <p:cNvSpPr/>
          <p:nvPr/>
        </p:nvSpPr>
        <p:spPr>
          <a:xfrm>
            <a:off x="9067800" y="3355181"/>
            <a:ext cx="328613" cy="2198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2AD780F-1194-6B4D-347B-2F9B0C665B34}"/>
              </a:ext>
            </a:extLst>
          </p:cNvPr>
          <p:cNvSpPr/>
          <p:nvPr/>
        </p:nvSpPr>
        <p:spPr>
          <a:xfrm>
            <a:off x="7403565" y="3605272"/>
            <a:ext cx="1664235" cy="2198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81E5CC-8226-035A-9266-393FA94249B2}"/>
              </a:ext>
            </a:extLst>
          </p:cNvPr>
          <p:cNvSpPr/>
          <p:nvPr/>
        </p:nvSpPr>
        <p:spPr>
          <a:xfrm>
            <a:off x="8775165" y="3946470"/>
            <a:ext cx="1664235" cy="2198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49286A1-2999-F49E-50D8-6D0A61A353E1}"/>
              </a:ext>
            </a:extLst>
          </p:cNvPr>
          <p:cNvSpPr/>
          <p:nvPr/>
        </p:nvSpPr>
        <p:spPr>
          <a:xfrm>
            <a:off x="9181566" y="4287668"/>
            <a:ext cx="195797" cy="1382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5E1A50-CC50-1E2E-9CC0-A12848427E7E}"/>
              </a:ext>
            </a:extLst>
          </p:cNvPr>
          <p:cNvSpPr/>
          <p:nvPr/>
        </p:nvSpPr>
        <p:spPr>
          <a:xfrm>
            <a:off x="7388778" y="5437469"/>
            <a:ext cx="4415872" cy="2806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442F935-DD79-4575-D8CA-4D0C0C16D95C}"/>
              </a:ext>
            </a:extLst>
          </p:cNvPr>
          <p:cNvSpPr/>
          <p:nvPr/>
        </p:nvSpPr>
        <p:spPr>
          <a:xfrm>
            <a:off x="8080928" y="6402669"/>
            <a:ext cx="2577547" cy="296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BA3636-21D5-9554-B825-105F31C32C73}"/>
              </a:ext>
            </a:extLst>
          </p:cNvPr>
          <p:cNvSpPr/>
          <p:nvPr/>
        </p:nvSpPr>
        <p:spPr>
          <a:xfrm>
            <a:off x="7845701" y="6698731"/>
            <a:ext cx="145774" cy="83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194571-F202-112C-8D41-49DB0D3CDAD1}"/>
              </a:ext>
            </a:extLst>
          </p:cNvPr>
          <p:cNvSpPr txBox="1"/>
          <p:nvPr/>
        </p:nvSpPr>
        <p:spPr>
          <a:xfrm>
            <a:off x="8229111" y="1501172"/>
            <a:ext cx="22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Clark Kent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6F8BA6-1361-302E-40A0-21BA69C43BD1}"/>
              </a:ext>
            </a:extLst>
          </p:cNvPr>
          <p:cNvSpPr txBox="1"/>
          <p:nvPr/>
        </p:nvSpPr>
        <p:spPr>
          <a:xfrm>
            <a:off x="7775044" y="1683545"/>
            <a:ext cx="22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USA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4B713C-0966-BAE8-AA59-8171A12789AE}"/>
              </a:ext>
            </a:extLst>
          </p:cNvPr>
          <p:cNvSpPr txBox="1"/>
          <p:nvPr/>
        </p:nvSpPr>
        <p:spPr>
          <a:xfrm>
            <a:off x="7902760" y="1854955"/>
            <a:ext cx="22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Daily Planet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2B35A6-95FE-587B-B25B-493B2321C59C}"/>
              </a:ext>
            </a:extLst>
          </p:cNvPr>
          <p:cNvSpPr txBox="1"/>
          <p:nvPr/>
        </p:nvSpPr>
        <p:spPr>
          <a:xfrm>
            <a:off x="8161946" y="2034541"/>
            <a:ext cx="22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Junior Reporter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E7E8E4-449E-4CCD-C8D7-705C3F88D438}"/>
              </a:ext>
            </a:extLst>
          </p:cNvPr>
          <p:cNvSpPr txBox="1"/>
          <p:nvPr/>
        </p:nvSpPr>
        <p:spPr>
          <a:xfrm>
            <a:off x="8140737" y="2221898"/>
            <a:ext cx="22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2025-09-05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8F2BD3-4DED-0E7D-9626-04ACC2B93EAA}"/>
              </a:ext>
            </a:extLst>
          </p:cNvPr>
          <p:cNvSpPr txBox="1"/>
          <p:nvPr/>
        </p:nvSpPr>
        <p:spPr>
          <a:xfrm>
            <a:off x="7388778" y="2906483"/>
            <a:ext cx="22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The Daily Planet – Metropolis Branch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B9FFB3-B44A-01E3-79C7-1768FE697081}"/>
              </a:ext>
            </a:extLst>
          </p:cNvPr>
          <p:cNvSpPr txBox="1"/>
          <p:nvPr/>
        </p:nvSpPr>
        <p:spPr>
          <a:xfrm>
            <a:off x="7388778" y="3679479"/>
            <a:ext cx="22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Junior Reporter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3E2BEE-73E6-9079-047F-70326A845BB2}"/>
              </a:ext>
            </a:extLst>
          </p:cNvPr>
          <p:cNvSpPr txBox="1"/>
          <p:nvPr/>
        </p:nvSpPr>
        <p:spPr>
          <a:xfrm>
            <a:off x="8684181" y="3966080"/>
            <a:ext cx="2277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the vendor?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8D2929-3AF0-6F5B-C28F-FFC26127364A}"/>
              </a:ext>
            </a:extLst>
          </p:cNvPr>
          <p:cNvSpPr txBox="1"/>
          <p:nvPr/>
        </p:nvSpPr>
        <p:spPr>
          <a:xfrm>
            <a:off x="7329828" y="5451656"/>
            <a:ext cx="4474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The Metropolis branch consistently provides a better working environment with colleagues than my experiences in other newspapers, particularly those in Kansas. </a:t>
            </a:r>
          </a:p>
        </p:txBody>
      </p:sp>
      <p:sp>
        <p:nvSpPr>
          <p:cNvPr id="50" name="Rounded Rectangle 19">
            <a:extLst>
              <a:ext uri="{FF2B5EF4-FFF2-40B4-BE49-F238E27FC236}">
                <a16:creationId xmlns:a16="http://schemas.microsoft.com/office/drawing/2014/main" id="{0B04C41D-5109-9C70-C587-BD54EF4795F8}"/>
              </a:ext>
            </a:extLst>
          </p:cNvPr>
          <p:cNvSpPr/>
          <p:nvPr/>
        </p:nvSpPr>
        <p:spPr>
          <a:xfrm>
            <a:off x="7394136" y="226951"/>
            <a:ext cx="4797864" cy="991519"/>
          </a:xfrm>
          <a:prstGeom prst="roundRect">
            <a:avLst/>
          </a:prstGeom>
          <a:solidFill>
            <a:srgbClr val="495759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596733-0C6D-B29B-69CC-DF0D7C3AAF58}"/>
              </a:ext>
            </a:extLst>
          </p:cNvPr>
          <p:cNvSpPr txBox="1"/>
          <p:nvPr/>
        </p:nvSpPr>
        <p:spPr>
          <a:xfrm>
            <a:off x="4944327" y="430377"/>
            <a:ext cx="1760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Space and breathing room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BB808F-C28E-2D44-8CB5-2400C6FB82B4}"/>
              </a:ext>
            </a:extLst>
          </p:cNvPr>
          <p:cNvSpPr txBox="1"/>
          <p:nvPr/>
        </p:nvSpPr>
        <p:spPr>
          <a:xfrm>
            <a:off x="2342477" y="5786819"/>
            <a:ext cx="1760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Remove boxing – this is a document</a:t>
            </a:r>
          </a:p>
        </p:txBody>
      </p:sp>
      <p:sp>
        <p:nvSpPr>
          <p:cNvPr id="53" name="Rounded Rectangle 19">
            <a:extLst>
              <a:ext uri="{FF2B5EF4-FFF2-40B4-BE49-F238E27FC236}">
                <a16:creationId xmlns:a16="http://schemas.microsoft.com/office/drawing/2014/main" id="{B23A3C49-7192-8F42-2A8F-91BD67BECF7A}"/>
              </a:ext>
            </a:extLst>
          </p:cNvPr>
          <p:cNvSpPr/>
          <p:nvPr/>
        </p:nvSpPr>
        <p:spPr>
          <a:xfrm>
            <a:off x="439736" y="4589292"/>
            <a:ext cx="5580063" cy="616036"/>
          </a:xfrm>
          <a:prstGeom prst="roundRect">
            <a:avLst/>
          </a:prstGeom>
          <a:solidFill>
            <a:srgbClr val="495759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19">
            <a:extLst>
              <a:ext uri="{FF2B5EF4-FFF2-40B4-BE49-F238E27FC236}">
                <a16:creationId xmlns:a16="http://schemas.microsoft.com/office/drawing/2014/main" id="{5501EA8E-48EA-16FA-E6E4-5694B19188E0}"/>
              </a:ext>
            </a:extLst>
          </p:cNvPr>
          <p:cNvSpPr/>
          <p:nvPr/>
        </p:nvSpPr>
        <p:spPr>
          <a:xfrm>
            <a:off x="7326869" y="3989105"/>
            <a:ext cx="4477782" cy="292624"/>
          </a:xfrm>
          <a:prstGeom prst="roundRect">
            <a:avLst/>
          </a:prstGeom>
          <a:solidFill>
            <a:srgbClr val="495759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827A16-ED02-F8C2-3E3A-5E434D06BC0F}"/>
              </a:ext>
            </a:extLst>
          </p:cNvPr>
          <p:cNvSpPr txBox="1"/>
          <p:nvPr/>
        </p:nvSpPr>
        <p:spPr>
          <a:xfrm>
            <a:off x="5867684" y="2589305"/>
            <a:ext cx="148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Subsections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6998B3-C121-3D63-1705-4831AF98B109}"/>
              </a:ext>
            </a:extLst>
          </p:cNvPr>
          <p:cNvSpPr txBox="1"/>
          <p:nvPr/>
        </p:nvSpPr>
        <p:spPr>
          <a:xfrm>
            <a:off x="4663112" y="6015441"/>
            <a:ext cx="1990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Custom headers and footers</a:t>
            </a:r>
          </a:p>
        </p:txBody>
      </p:sp>
      <p:sp>
        <p:nvSpPr>
          <p:cNvPr id="57" name="Rounded Rectangle 19">
            <a:extLst>
              <a:ext uri="{FF2B5EF4-FFF2-40B4-BE49-F238E27FC236}">
                <a16:creationId xmlns:a16="http://schemas.microsoft.com/office/drawing/2014/main" id="{3F23653C-5822-C93B-89D4-F0283C39A85D}"/>
              </a:ext>
            </a:extLst>
          </p:cNvPr>
          <p:cNvSpPr/>
          <p:nvPr/>
        </p:nvSpPr>
        <p:spPr>
          <a:xfrm>
            <a:off x="7295443" y="6538246"/>
            <a:ext cx="4797864" cy="296062"/>
          </a:xfrm>
          <a:prstGeom prst="roundRect">
            <a:avLst/>
          </a:prstGeom>
          <a:solidFill>
            <a:srgbClr val="495759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D2BE9EB-BD20-F44E-4D33-CBB7685BB5A3}"/>
              </a:ext>
            </a:extLst>
          </p:cNvPr>
          <p:cNvCxnSpPr>
            <a:stCxn id="52" idx="0"/>
            <a:endCxn id="53" idx="2"/>
          </p:cNvCxnSpPr>
          <p:nvPr/>
        </p:nvCxnSpPr>
        <p:spPr>
          <a:xfrm flipV="1">
            <a:off x="3222896" y="5205328"/>
            <a:ext cx="6872" cy="581491"/>
          </a:xfrm>
          <a:prstGeom prst="line">
            <a:avLst/>
          </a:prstGeom>
          <a:ln>
            <a:solidFill>
              <a:srgbClr val="EDAF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845128-8E8D-8BED-0DCC-CDA2C052530C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6653521" y="6338607"/>
            <a:ext cx="641922" cy="347670"/>
          </a:xfrm>
          <a:prstGeom prst="line">
            <a:avLst/>
          </a:prstGeom>
          <a:ln>
            <a:solidFill>
              <a:srgbClr val="EDAF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95223E-DA89-E35D-0158-6D251E8481A3}"/>
              </a:ext>
            </a:extLst>
          </p:cNvPr>
          <p:cNvCxnSpPr>
            <a:cxnSpLocks/>
            <a:stCxn id="54" idx="1"/>
            <a:endCxn id="55" idx="2"/>
          </p:cNvCxnSpPr>
          <p:nvPr/>
        </p:nvCxnSpPr>
        <p:spPr>
          <a:xfrm flipH="1" flipV="1">
            <a:off x="6610064" y="2958637"/>
            <a:ext cx="716805" cy="1176780"/>
          </a:xfrm>
          <a:prstGeom prst="line">
            <a:avLst/>
          </a:prstGeom>
          <a:ln>
            <a:solidFill>
              <a:srgbClr val="EDAF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691113-3532-3EF3-F6A7-11ED86E9BE3B}"/>
              </a:ext>
            </a:extLst>
          </p:cNvPr>
          <p:cNvCxnSpPr>
            <a:cxnSpLocks/>
            <a:stCxn id="50" idx="1"/>
            <a:endCxn id="51" idx="3"/>
          </p:cNvCxnSpPr>
          <p:nvPr/>
        </p:nvCxnSpPr>
        <p:spPr>
          <a:xfrm flipH="1">
            <a:off x="6705165" y="722711"/>
            <a:ext cx="688971" cy="30832"/>
          </a:xfrm>
          <a:prstGeom prst="line">
            <a:avLst/>
          </a:prstGeom>
          <a:ln>
            <a:solidFill>
              <a:srgbClr val="EDAF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E9ABE6D2-595D-ADD7-81FF-D85CFEC3EAA8}"/>
              </a:ext>
            </a:extLst>
          </p:cNvPr>
          <p:cNvSpPr/>
          <p:nvPr/>
        </p:nvSpPr>
        <p:spPr>
          <a:xfrm>
            <a:off x="9812742" y="4298847"/>
            <a:ext cx="458383" cy="127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48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AF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A315ED-D5E0-BF21-F932-0C7D04C9B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21701">
            <a:off x="301369" y="4331"/>
            <a:ext cx="7525459" cy="2416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008EBA-7F4E-8CEA-5571-DC2443309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800000">
            <a:off x="787933" y="2976390"/>
            <a:ext cx="3743783" cy="37011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301DDE-BD5F-49C1-1868-5AC0EE178B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9791" y="2890391"/>
            <a:ext cx="3224515" cy="39862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129B0E-D192-8C8E-1AB5-C23491859C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920079">
            <a:off x="6977583" y="891392"/>
            <a:ext cx="5331928" cy="3736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E07092-586A-80A1-E63F-87A98A093F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361717">
            <a:off x="8014765" y="4718582"/>
            <a:ext cx="4087585" cy="2139418"/>
          </a:xfrm>
          <a:prstGeom prst="rect">
            <a:avLst/>
          </a:prstGeom>
        </p:spPr>
      </p:pic>
      <p:pic>
        <p:nvPicPr>
          <p:cNvPr id="1026" name="Picture 2" descr="Typst">
            <a:extLst>
              <a:ext uri="{FF2B5EF4-FFF2-40B4-BE49-F238E27FC236}">
                <a16:creationId xmlns:a16="http://schemas.microsoft.com/office/drawing/2014/main" id="{4711C369-DE05-8B54-C58E-5422330D7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179" y="3220154"/>
            <a:ext cx="6096000" cy="858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920796-CE7F-8EC9-A819-7FD43183E8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9890" y="3003778"/>
            <a:ext cx="30099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6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3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6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9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2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5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0000">
              <a:srgbClr val="F7E2D7">
                <a:alpha val="63000"/>
                <a:lumMod val="79000"/>
                <a:lumOff val="21000"/>
              </a:srgbClr>
            </a:gs>
            <a:gs pos="69000">
              <a:srgbClr val="EDAFB8"/>
            </a:gs>
            <a:gs pos="84000">
              <a:srgbClr val="EDAFB8"/>
            </a:gs>
            <a:gs pos="100000">
              <a:srgbClr val="AFC4B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eople at the meeting desk">
            <a:extLst>
              <a:ext uri="{FF2B5EF4-FFF2-40B4-BE49-F238E27FC236}">
                <a16:creationId xmlns:a16="http://schemas.microsoft.com/office/drawing/2014/main" id="{A9927499-359E-3C7B-96C8-A51AA40556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7000"/>
          </a:blip>
          <a:srcRect l="5643" r="15046"/>
          <a:stretch>
            <a:fillRect/>
          </a:stretch>
        </p:blipFill>
        <p:spPr>
          <a:xfrm>
            <a:off x="2562578" y="0"/>
            <a:ext cx="9629422" cy="685968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F21D6-60C3-C15F-74E7-C578F803BA4D}"/>
              </a:ext>
            </a:extLst>
          </p:cNvPr>
          <p:cNvSpPr txBox="1"/>
          <p:nvPr/>
        </p:nvSpPr>
        <p:spPr>
          <a:xfrm>
            <a:off x="605164" y="1759830"/>
            <a:ext cx="5155556" cy="4435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95759"/>
                </a:solidFill>
                <a:latin typeface="Söhne" panose="020B0503030202060203" pitchFamily="34" charset="0"/>
              </a:rPr>
              <a:t>Efficiency gains </a:t>
            </a:r>
          </a:p>
          <a:p>
            <a:pPr marL="342900" indent="-2286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95759"/>
                </a:solidFill>
                <a:latin typeface="Söhne" panose="020B0503030202060203" pitchFamily="34" charset="0"/>
              </a:rPr>
              <a:t>Design improvements</a:t>
            </a:r>
          </a:p>
          <a:p>
            <a:pPr marL="342900" indent="-2286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95759"/>
                </a:solidFill>
                <a:latin typeface="Söhne" panose="020B0503030202060203" pitchFamily="34" charset="0"/>
              </a:rPr>
              <a:t>Level up skills for a modern toolkit</a:t>
            </a:r>
          </a:p>
          <a:p>
            <a:pPr marL="342900" indent="-2286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95759"/>
                </a:solidFill>
                <a:latin typeface="Söhne" panose="020B0503030202060203" pitchFamily="34" charset="0"/>
              </a:rPr>
              <a:t>Consistent quality and fewer errors</a:t>
            </a:r>
          </a:p>
          <a:p>
            <a:pPr marL="342900" indent="-2286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95759"/>
                </a:solidFill>
                <a:latin typeface="Söhne" panose="020B0503030202060203" pitchFamily="34" charset="0"/>
              </a:rPr>
              <a:t>Collaboration and shared ownership culture shift</a:t>
            </a: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1700" dirty="0">
              <a:latin typeface="Söhne" panose="020B050303020206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B21FD-577B-CE2A-7CBB-328BE8D012D1}"/>
              </a:ext>
            </a:extLst>
          </p:cNvPr>
          <p:cNvSpPr txBox="1"/>
          <p:nvPr/>
        </p:nvSpPr>
        <p:spPr>
          <a:xfrm>
            <a:off x="396734" y="174333"/>
            <a:ext cx="9339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0" u="none" strike="noStrike" dirty="0">
                <a:solidFill>
                  <a:srgbClr val="495759"/>
                </a:solidFill>
                <a:effectLst/>
                <a:latin typeface="Tobias Light" pitchFamily="50" charset="0"/>
              </a:rPr>
              <a:t>Impacts &amp; Lessons</a:t>
            </a:r>
            <a:endParaRPr lang="en-US" sz="4800" dirty="0">
              <a:solidFill>
                <a:srgbClr val="495759"/>
              </a:solidFill>
              <a:latin typeface="Tobias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397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2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rrow: Right 27">
            <a:extLst>
              <a:ext uri="{FF2B5EF4-FFF2-40B4-BE49-F238E27FC236}">
                <a16:creationId xmlns:a16="http://schemas.microsoft.com/office/drawing/2014/main" id="{0D39BA86-50C4-277B-734D-CCFD4E896510}"/>
              </a:ext>
            </a:extLst>
          </p:cNvPr>
          <p:cNvSpPr/>
          <p:nvPr/>
        </p:nvSpPr>
        <p:spPr>
          <a:xfrm>
            <a:off x="0" y="0"/>
            <a:ext cx="12192000" cy="2680309"/>
          </a:xfrm>
          <a:custGeom>
            <a:avLst/>
            <a:gdLst>
              <a:gd name="connsiteX0" fmla="*/ 0 w 12192000"/>
              <a:gd name="connsiteY0" fmla="*/ 670077 h 2680309"/>
              <a:gd name="connsiteX1" fmla="*/ 10851846 w 12192000"/>
              <a:gd name="connsiteY1" fmla="*/ 670077 h 2680309"/>
              <a:gd name="connsiteX2" fmla="*/ 10851846 w 12192000"/>
              <a:gd name="connsiteY2" fmla="*/ 0 h 2680309"/>
              <a:gd name="connsiteX3" fmla="*/ 12192000 w 12192000"/>
              <a:gd name="connsiteY3" fmla="*/ 1340155 h 2680309"/>
              <a:gd name="connsiteX4" fmla="*/ 10851846 w 12192000"/>
              <a:gd name="connsiteY4" fmla="*/ 2680309 h 2680309"/>
              <a:gd name="connsiteX5" fmla="*/ 10851846 w 12192000"/>
              <a:gd name="connsiteY5" fmla="*/ 2010232 h 2680309"/>
              <a:gd name="connsiteX6" fmla="*/ 0 w 12192000"/>
              <a:gd name="connsiteY6" fmla="*/ 2010232 h 2680309"/>
              <a:gd name="connsiteX7" fmla="*/ 0 w 12192000"/>
              <a:gd name="connsiteY7" fmla="*/ 670077 h 2680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680309" fill="none" extrusionOk="0">
                <a:moveTo>
                  <a:pt x="0" y="670077"/>
                </a:moveTo>
                <a:cubicBezTo>
                  <a:pt x="5173013" y="699277"/>
                  <a:pt x="9564770" y="709184"/>
                  <a:pt x="10851846" y="670077"/>
                </a:cubicBezTo>
                <a:cubicBezTo>
                  <a:pt x="10794785" y="502271"/>
                  <a:pt x="10793061" y="333577"/>
                  <a:pt x="10851846" y="0"/>
                </a:cubicBezTo>
                <a:cubicBezTo>
                  <a:pt x="11049382" y="369996"/>
                  <a:pt x="11769771" y="719138"/>
                  <a:pt x="12192000" y="1340155"/>
                </a:cubicBezTo>
                <a:cubicBezTo>
                  <a:pt x="11880093" y="1698543"/>
                  <a:pt x="11359704" y="2153623"/>
                  <a:pt x="10851846" y="2680309"/>
                </a:cubicBezTo>
                <a:cubicBezTo>
                  <a:pt x="10804185" y="2470789"/>
                  <a:pt x="10892881" y="2308871"/>
                  <a:pt x="10851846" y="2010232"/>
                </a:cubicBezTo>
                <a:cubicBezTo>
                  <a:pt x="6283016" y="1875227"/>
                  <a:pt x="5179354" y="2076992"/>
                  <a:pt x="0" y="2010232"/>
                </a:cubicBezTo>
                <a:cubicBezTo>
                  <a:pt x="-99455" y="1659667"/>
                  <a:pt x="-72575" y="1174270"/>
                  <a:pt x="0" y="670077"/>
                </a:cubicBezTo>
                <a:close/>
              </a:path>
              <a:path w="12192000" h="2680309" stroke="0" extrusionOk="0">
                <a:moveTo>
                  <a:pt x="0" y="670077"/>
                </a:moveTo>
                <a:cubicBezTo>
                  <a:pt x="2806536" y="744398"/>
                  <a:pt x="5489740" y="614953"/>
                  <a:pt x="10851846" y="670077"/>
                </a:cubicBezTo>
                <a:cubicBezTo>
                  <a:pt x="10834289" y="463415"/>
                  <a:pt x="10842531" y="322219"/>
                  <a:pt x="10851846" y="0"/>
                </a:cubicBezTo>
                <a:cubicBezTo>
                  <a:pt x="11524583" y="477931"/>
                  <a:pt x="11631520" y="679317"/>
                  <a:pt x="12192000" y="1340155"/>
                </a:cubicBezTo>
                <a:cubicBezTo>
                  <a:pt x="11784978" y="1829818"/>
                  <a:pt x="11071870" y="2460431"/>
                  <a:pt x="10851846" y="2680309"/>
                </a:cubicBezTo>
                <a:cubicBezTo>
                  <a:pt x="10826511" y="2383277"/>
                  <a:pt x="10830842" y="2161724"/>
                  <a:pt x="10851846" y="2010232"/>
                </a:cubicBezTo>
                <a:cubicBezTo>
                  <a:pt x="6747734" y="2165517"/>
                  <a:pt x="3843479" y="1996548"/>
                  <a:pt x="0" y="2010232"/>
                </a:cubicBezTo>
                <a:cubicBezTo>
                  <a:pt x="-63078" y="1630618"/>
                  <a:pt x="27858" y="1289729"/>
                  <a:pt x="0" y="670077"/>
                </a:cubicBezTo>
                <a:close/>
              </a:path>
            </a:pathLst>
          </a:custGeom>
          <a:solidFill>
            <a:srgbClr val="AFC4B1">
              <a:alpha val="18000"/>
            </a:srgbClr>
          </a:solidFill>
          <a:ln>
            <a:noFill/>
            <a:extLst>
              <a:ext uri="{C807C97D-BFC1-408E-A445-0C87EB9F89A2}">
                <ask:lineSketchStyleProps xmlns:ask="http://schemas.microsoft.com/office/drawing/2018/sketchyshapes" sd="2735002453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E6105C-023E-97A5-161E-0B67692AEA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208" t="9190" r="21491" b="9730"/>
          <a:stretch/>
        </p:blipFill>
        <p:spPr>
          <a:xfrm>
            <a:off x="6096000" y="1076831"/>
            <a:ext cx="2711267" cy="48608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0AD835-9602-27F1-B246-AFDDB5FC46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643" t="7387" r="18849" b="5585"/>
          <a:stretch/>
        </p:blipFill>
        <p:spPr>
          <a:xfrm>
            <a:off x="3269907" y="1076831"/>
            <a:ext cx="2826093" cy="4857662"/>
          </a:xfrm>
          <a:prstGeom prst="rect">
            <a:avLst/>
          </a:prstGeom>
        </p:spPr>
      </p:pic>
      <p:pic>
        <p:nvPicPr>
          <p:cNvPr id="5" name="Picture 4" descr="A robot holding a ladle and a spoon and a knife&#10;&#10;AI-generated content may be incorrect.">
            <a:extLst>
              <a:ext uri="{FF2B5EF4-FFF2-40B4-BE49-F238E27FC236}">
                <a16:creationId xmlns:a16="http://schemas.microsoft.com/office/drawing/2014/main" id="{EAEE6C95-AE84-57FF-5B98-ED23ADA885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646" b="97005" l="1270" r="98145">
                        <a14:foregroundMark x1="33496" y1="4427" x2="48730" y2="13216"/>
                        <a14:foregroundMark x1="48730" y1="13216" x2="35742" y2="3646"/>
                        <a14:foregroundMark x1="35742" y1="3646" x2="31738" y2="4427"/>
                        <a14:foregroundMark x1="88379" y1="12435" x2="82617" y2="24479"/>
                        <a14:foregroundMark x1="82617" y1="24479" x2="90137" y2="12240"/>
                        <a14:foregroundMark x1="90137" y1="12240" x2="88867" y2="11849"/>
                        <a14:foregroundMark x1="12294" y1="24972" x2="3906" y2="34701"/>
                        <a14:foregroundMark x1="5960" y1="47831" x2="6055" y2="48438"/>
                        <a14:foregroundMark x1="3906" y1="34701" x2="4317" y2="37331"/>
                        <a14:foregroundMark x1="14625" y1="42966" x2="15512" y2="42400"/>
                        <a14:foregroundMark x1="7382" y1="47591" x2="14607" y2="42978"/>
                        <a14:foregroundMark x1="6055" y1="48438" x2="7201" y2="47706"/>
                        <a14:foregroundMark x1="23924" y1="35153" x2="20804" y2="27179"/>
                        <a14:foregroundMark x1="95605" y1="50586" x2="88086" y2="62630"/>
                        <a14:foregroundMark x1="88086" y1="62630" x2="88184" y2="76628"/>
                        <a14:foregroundMark x1="88184" y1="76628" x2="68848" y2="87500"/>
                        <a14:foregroundMark x1="68848" y1="87500" x2="47559" y2="91602"/>
                        <a14:foregroundMark x1="47559" y1="91602" x2="1270" y2="77995"/>
                        <a14:foregroundMark x1="88086" y1="76302" x2="95410" y2="91732"/>
                        <a14:foregroundMark x1="95410" y1="91732" x2="96875" y2="62044"/>
                        <a14:foregroundMark x1="96875" y1="62044" x2="86035" y2="74870"/>
                        <a14:foregroundMark x1="86035" y1="74870" x2="87598" y2="75456"/>
                        <a14:foregroundMark x1="94629" y1="86133" x2="58105" y2="91992"/>
                        <a14:foregroundMark x1="58105" y1="91992" x2="74414" y2="99284"/>
                        <a14:foregroundMark x1="74414" y1="99284" x2="92676" y2="95378"/>
                        <a14:foregroundMark x1="92676" y1="95378" x2="91113" y2="87174"/>
                        <a14:foregroundMark x1="67383" y1="91471" x2="47461" y2="94206"/>
                        <a14:foregroundMark x1="47461" y1="94206" x2="76367" y2="98372"/>
                        <a14:foregroundMark x1="76367" y1="98372" x2="95801" y2="97005"/>
                        <a14:foregroundMark x1="95801" y1="97005" x2="98145" y2="96354"/>
                        <a14:backgroundMark x1="8594" y1="12174" x2="8594" y2="12174"/>
                        <a14:backgroundMark x1="20215" y1="8724" x2="22754" y2="22201"/>
                        <a14:backgroundMark x1="22754" y1="22201" x2="4590" y2="12240"/>
                        <a14:backgroundMark x1="4590" y1="12240" x2="18848" y2="6120"/>
                        <a14:backgroundMark x1="4785" y1="40755" x2="4492" y2="40755"/>
                        <a14:backgroundMark x1="16309" y1="45573" x2="16309" y2="45898"/>
                        <a14:backgroundMark x1="17773" y1="18555" x2="17773" y2="19857"/>
                        <a14:backgroundMark x1="6543" y1="41276" x2="7031" y2="41732"/>
                        <a14:backgroundMark x1="18066" y1="40430" x2="20313" y2="39063"/>
                        <a14:backgroundMark x1="22266" y1="23372" x2="21777" y2="25911"/>
                        <a14:backgroundMark x1="22070" y1="23047" x2="20020" y2="22070"/>
                        <a14:backgroundMark x1="19434" y1="20508" x2="18066" y2="21094"/>
                        <a14:backgroundMark x1="22852" y1="23047" x2="16602" y2="20898"/>
                        <a14:backgroundMark x1="14063" y1="19792" x2="17480" y2="21094"/>
                        <a14:backgroundMark x1="14063" y1="23307" x2="14063" y2="23307"/>
                        <a14:backgroundMark x1="15234" y1="23372" x2="19238" y2="23828"/>
                        <a14:backgroundMark x1="15039" y1="21549" x2="20996" y2="24870"/>
                        <a14:backgroundMark x1="11133" y1="21615" x2="23145" y2="26497"/>
                        <a14:backgroundMark x1="9570" y1="23047" x2="21680" y2="26497"/>
                        <a14:backgroundMark x1="19336" y1="40104" x2="19824" y2="38281"/>
                        <a14:backgroundMark x1="19238" y1="39063" x2="24414" y2="36003"/>
                        <a14:backgroundMark x1="18652" y1="40690" x2="26953" y2="34505"/>
                        <a14:backgroundMark x1="22949" y1="36458" x2="25293" y2="34570"/>
                        <a14:backgroundMark x1="14258" y1="47721" x2="16211" y2="40755"/>
                        <a14:backgroundMark x1="14648" y1="47070" x2="18164" y2="40625"/>
                        <a14:backgroundMark x1="16309" y1="41406" x2="16309" y2="41406"/>
                        <a14:backgroundMark x1="15918" y1="43034" x2="17871" y2="40755"/>
                        <a14:backgroundMark x1="15137" y1="44076" x2="15039" y2="41992"/>
                        <a14:backgroundMark x1="3223" y1="37891" x2="8105" y2="41276"/>
                        <a14:backgroundMark x1="3906" y1="39714" x2="5762" y2="47852"/>
                        <a14:backgroundMark x1="4004" y1="40885" x2="3223" y2="343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54092" y="1967944"/>
            <a:ext cx="1805853" cy="2708780"/>
          </a:xfrm>
          <a:prstGeom prst="ellipse">
            <a:avLst/>
          </a:prstGeom>
          <a:ln w="28575" cap="rnd">
            <a:solidFill>
              <a:srgbClr val="495759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3" name="Picture 22" descr="A person standing next to a jar of pickles&#10;&#10;AI-generated content may be incorrect.">
            <a:extLst>
              <a:ext uri="{FF2B5EF4-FFF2-40B4-BE49-F238E27FC236}">
                <a16:creationId xmlns:a16="http://schemas.microsoft.com/office/drawing/2014/main" id="{F13648FF-18F4-EAA7-6597-A35E6268D8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4501" y="1457845"/>
            <a:ext cx="2485985" cy="372897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8504B2BC-0EB4-B1F4-18C1-4E20FD7CAACA}"/>
              </a:ext>
            </a:extLst>
          </p:cNvPr>
          <p:cNvGrpSpPr/>
          <p:nvPr/>
        </p:nvGrpSpPr>
        <p:grpSpPr>
          <a:xfrm>
            <a:off x="197583" y="2407934"/>
            <a:ext cx="2576348" cy="1828800"/>
            <a:chOff x="339097" y="2350706"/>
            <a:chExt cx="2576348" cy="18288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7B02B80-3765-CDA2-B9F5-FE37D1DD5D1F}"/>
                </a:ext>
              </a:extLst>
            </p:cNvPr>
            <p:cNvGrpSpPr/>
            <p:nvPr/>
          </p:nvGrpSpPr>
          <p:grpSpPr>
            <a:xfrm>
              <a:off x="729493" y="2650548"/>
              <a:ext cx="1729063" cy="1287736"/>
              <a:chOff x="5417613" y="427482"/>
              <a:chExt cx="1729063" cy="1287736"/>
            </a:xfrm>
          </p:grpSpPr>
          <p:pic>
            <p:nvPicPr>
              <p:cNvPr id="7" name="Graphic 6" descr="Chef female with solid fill">
                <a:extLst>
                  <a:ext uri="{FF2B5EF4-FFF2-40B4-BE49-F238E27FC236}">
                    <a16:creationId xmlns:a16="http://schemas.microsoft.com/office/drawing/2014/main" id="{A6765CC3-4DB8-B3BF-DB02-1CD12133D6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721205" y="1038916"/>
                <a:ext cx="676302" cy="676302"/>
              </a:xfrm>
              <a:prstGeom prst="rect">
                <a:avLst/>
              </a:prstGeom>
            </p:spPr>
          </p:pic>
          <p:pic>
            <p:nvPicPr>
              <p:cNvPr id="9" name="Graphic 8" descr="Chef male with solid fill">
                <a:extLst>
                  <a:ext uri="{FF2B5EF4-FFF2-40B4-BE49-F238E27FC236}">
                    <a16:creationId xmlns:a16="http://schemas.microsoft.com/office/drawing/2014/main" id="{8275FB4F-42B7-14C5-8216-6C85FC014C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417613" y="427482"/>
                <a:ext cx="676302" cy="676302"/>
              </a:xfrm>
              <a:prstGeom prst="rect">
                <a:avLst/>
              </a:prstGeom>
            </p:spPr>
          </p:pic>
          <p:pic>
            <p:nvPicPr>
              <p:cNvPr id="10" name="Graphic 9" descr="Chef male with solid fill">
                <a:extLst>
                  <a:ext uri="{FF2B5EF4-FFF2-40B4-BE49-F238E27FC236}">
                    <a16:creationId xmlns:a16="http://schemas.microsoft.com/office/drawing/2014/main" id="{02248ADF-1EFD-5B10-AB4C-0D8BEF55A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226503" y="1038916"/>
                <a:ext cx="676302" cy="676302"/>
              </a:xfrm>
              <a:prstGeom prst="rect">
                <a:avLst/>
              </a:prstGeom>
            </p:spPr>
          </p:pic>
          <p:pic>
            <p:nvPicPr>
              <p:cNvPr id="11" name="Graphic 10" descr="Chef female with solid fill">
                <a:extLst>
                  <a:ext uri="{FF2B5EF4-FFF2-40B4-BE49-F238E27FC236}">
                    <a16:creationId xmlns:a16="http://schemas.microsoft.com/office/drawing/2014/main" id="{A7618DAB-1F8C-28EE-3EB0-B20BFEBE97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950907" y="427482"/>
                <a:ext cx="676302" cy="676302"/>
              </a:xfrm>
              <a:prstGeom prst="rect">
                <a:avLst/>
              </a:prstGeom>
            </p:spPr>
          </p:pic>
          <p:pic>
            <p:nvPicPr>
              <p:cNvPr id="12" name="Graphic 11" descr="Chef female with solid fill">
                <a:extLst>
                  <a:ext uri="{FF2B5EF4-FFF2-40B4-BE49-F238E27FC236}">
                    <a16:creationId xmlns:a16="http://schemas.microsoft.com/office/drawing/2014/main" id="{54E9C125-A658-B254-EC46-7DE77BDFDE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470374" y="427482"/>
                <a:ext cx="676302" cy="676302"/>
              </a:xfrm>
              <a:prstGeom prst="rect">
                <a:avLst/>
              </a:prstGeom>
            </p:spPr>
          </p:pic>
        </p:grp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6253F783-8C45-D030-73C2-2826F492B750}"/>
                </a:ext>
              </a:extLst>
            </p:cNvPr>
            <p:cNvSpPr/>
            <p:nvPr/>
          </p:nvSpPr>
          <p:spPr>
            <a:xfrm>
              <a:off x="339097" y="2350706"/>
              <a:ext cx="2576348" cy="1828800"/>
            </a:xfrm>
            <a:prstGeom prst="roundRect">
              <a:avLst/>
            </a:prstGeom>
            <a:noFill/>
            <a:ln w="19050">
              <a:solidFill>
                <a:srgbClr val="495759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custGeom>
                      <a:avLst/>
                      <a:gdLst>
                        <a:gd name="connsiteX0" fmla="*/ 0 w 2576348"/>
                        <a:gd name="connsiteY0" fmla="*/ 304806 h 1828800"/>
                        <a:gd name="connsiteX1" fmla="*/ 304806 w 2576348"/>
                        <a:gd name="connsiteY1" fmla="*/ 0 h 1828800"/>
                        <a:gd name="connsiteX2" fmla="*/ 960385 w 2576348"/>
                        <a:gd name="connsiteY2" fmla="*/ 0 h 1828800"/>
                        <a:gd name="connsiteX3" fmla="*/ 1655298 w 2576348"/>
                        <a:gd name="connsiteY3" fmla="*/ 0 h 1828800"/>
                        <a:gd name="connsiteX4" fmla="*/ 2271542 w 2576348"/>
                        <a:gd name="connsiteY4" fmla="*/ 0 h 1828800"/>
                        <a:gd name="connsiteX5" fmla="*/ 2576348 w 2576348"/>
                        <a:gd name="connsiteY5" fmla="*/ 304806 h 1828800"/>
                        <a:gd name="connsiteX6" fmla="*/ 2576348 w 2576348"/>
                        <a:gd name="connsiteY6" fmla="*/ 914400 h 1828800"/>
                        <a:gd name="connsiteX7" fmla="*/ 2576348 w 2576348"/>
                        <a:gd name="connsiteY7" fmla="*/ 1523994 h 1828800"/>
                        <a:gd name="connsiteX8" fmla="*/ 2271542 w 2576348"/>
                        <a:gd name="connsiteY8" fmla="*/ 1828800 h 1828800"/>
                        <a:gd name="connsiteX9" fmla="*/ 1596296 w 2576348"/>
                        <a:gd name="connsiteY9" fmla="*/ 1828800 h 1828800"/>
                        <a:gd name="connsiteX10" fmla="*/ 960385 w 2576348"/>
                        <a:gd name="connsiteY10" fmla="*/ 1828800 h 1828800"/>
                        <a:gd name="connsiteX11" fmla="*/ 304806 w 2576348"/>
                        <a:gd name="connsiteY11" fmla="*/ 1828800 h 1828800"/>
                        <a:gd name="connsiteX12" fmla="*/ 0 w 2576348"/>
                        <a:gd name="connsiteY12" fmla="*/ 1523994 h 1828800"/>
                        <a:gd name="connsiteX13" fmla="*/ 0 w 2576348"/>
                        <a:gd name="connsiteY13" fmla="*/ 938784 h 1828800"/>
                        <a:gd name="connsiteX14" fmla="*/ 0 w 2576348"/>
                        <a:gd name="connsiteY14" fmla="*/ 304806 h 18288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2576348" h="1828800" extrusionOk="0">
                          <a:moveTo>
                            <a:pt x="0" y="304806"/>
                          </a:moveTo>
                          <a:cubicBezTo>
                            <a:pt x="-7590" y="149782"/>
                            <a:pt x="98492" y="-15681"/>
                            <a:pt x="304806" y="0"/>
                          </a:cubicBezTo>
                          <a:cubicBezTo>
                            <a:pt x="492222" y="11640"/>
                            <a:pt x="826944" y="15779"/>
                            <a:pt x="960385" y="0"/>
                          </a:cubicBezTo>
                          <a:cubicBezTo>
                            <a:pt x="1093826" y="-15779"/>
                            <a:pt x="1447590" y="13693"/>
                            <a:pt x="1655298" y="0"/>
                          </a:cubicBezTo>
                          <a:cubicBezTo>
                            <a:pt x="1863006" y="-13693"/>
                            <a:pt x="2030213" y="1762"/>
                            <a:pt x="2271542" y="0"/>
                          </a:cubicBezTo>
                          <a:cubicBezTo>
                            <a:pt x="2440503" y="7301"/>
                            <a:pt x="2575156" y="125176"/>
                            <a:pt x="2576348" y="304806"/>
                          </a:cubicBezTo>
                          <a:cubicBezTo>
                            <a:pt x="2548720" y="555796"/>
                            <a:pt x="2583946" y="732306"/>
                            <a:pt x="2576348" y="914400"/>
                          </a:cubicBezTo>
                          <a:cubicBezTo>
                            <a:pt x="2568750" y="1096494"/>
                            <a:pt x="2561150" y="1281577"/>
                            <a:pt x="2576348" y="1523994"/>
                          </a:cubicBezTo>
                          <a:cubicBezTo>
                            <a:pt x="2572133" y="1674566"/>
                            <a:pt x="2435107" y="1827612"/>
                            <a:pt x="2271542" y="1828800"/>
                          </a:cubicBezTo>
                          <a:cubicBezTo>
                            <a:pt x="2052367" y="1831231"/>
                            <a:pt x="1796983" y="1810287"/>
                            <a:pt x="1596296" y="1828800"/>
                          </a:cubicBezTo>
                          <a:cubicBezTo>
                            <a:pt x="1395609" y="1847313"/>
                            <a:pt x="1176913" y="1808038"/>
                            <a:pt x="960385" y="1828800"/>
                          </a:cubicBezTo>
                          <a:cubicBezTo>
                            <a:pt x="743857" y="1849562"/>
                            <a:pt x="514879" y="1809812"/>
                            <a:pt x="304806" y="1828800"/>
                          </a:cubicBezTo>
                          <a:cubicBezTo>
                            <a:pt x="163038" y="1822248"/>
                            <a:pt x="-15357" y="1727294"/>
                            <a:pt x="0" y="1523994"/>
                          </a:cubicBezTo>
                          <a:cubicBezTo>
                            <a:pt x="13887" y="1368599"/>
                            <a:pt x="-26617" y="1156804"/>
                            <a:pt x="0" y="938784"/>
                          </a:cubicBezTo>
                          <a:cubicBezTo>
                            <a:pt x="26617" y="720764"/>
                            <a:pt x="-12436" y="569942"/>
                            <a:pt x="0" y="30480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81D97B0-6026-CC6B-43F6-C02121D0DDAC}"/>
              </a:ext>
            </a:extLst>
          </p:cNvPr>
          <p:cNvGrpSpPr/>
          <p:nvPr/>
        </p:nvGrpSpPr>
        <p:grpSpPr>
          <a:xfrm>
            <a:off x="3078486" y="2407934"/>
            <a:ext cx="4071051" cy="1828800"/>
            <a:chOff x="7887368" y="620486"/>
            <a:chExt cx="4071051" cy="1828800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E290AE1-E930-1E0C-67AA-BB686FC14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056430" y="740850"/>
              <a:ext cx="651354" cy="6513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57D938-4087-BD19-41CC-0B85DC4807F3}"/>
                </a:ext>
              </a:extLst>
            </p:cNvPr>
            <p:cNvSpPr txBox="1"/>
            <p:nvPr/>
          </p:nvSpPr>
          <p:spPr>
            <a:xfrm>
              <a:off x="8056430" y="1519709"/>
              <a:ext cx="373050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Fira Code" pitchFamily="1" charset="0"/>
                  <a:ea typeface="Fira Code" pitchFamily="1" charset="0"/>
                  <a:cs typeface="Fira Code" pitchFamily="1" charset="0"/>
                </a:rPr>
                <a:t># Readme</a:t>
              </a:r>
            </a:p>
            <a:p>
              <a:r>
                <a:rPr lang="en-US" sz="1600" dirty="0">
                  <a:latin typeface="Fira Code" pitchFamily="1" charset="0"/>
                  <a:ea typeface="Fira Code" pitchFamily="1" charset="0"/>
                  <a:cs typeface="Fira Code" pitchFamily="1" charset="0"/>
                </a:rPr>
                <a:t>## Detailed Instructions</a:t>
              </a:r>
            </a:p>
            <a:p>
              <a:r>
                <a:rPr lang="en-US" sz="1600" dirty="0">
                  <a:latin typeface="Fira Code" pitchFamily="1" charset="0"/>
                  <a:ea typeface="Fira Code" pitchFamily="1" charset="0"/>
                  <a:cs typeface="Fira Code" pitchFamily="1" charset="0"/>
                </a:rPr>
                <a:t>### Liberal in-line comments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DEE00EE-AFC6-1708-285D-3DE86FE03CB6}"/>
                </a:ext>
              </a:extLst>
            </p:cNvPr>
            <p:cNvSpPr/>
            <p:nvPr/>
          </p:nvSpPr>
          <p:spPr>
            <a:xfrm>
              <a:off x="7887368" y="620486"/>
              <a:ext cx="4071051" cy="1828800"/>
            </a:xfrm>
            <a:prstGeom prst="roundRect">
              <a:avLst/>
            </a:prstGeom>
            <a:noFill/>
            <a:ln w="19050">
              <a:solidFill>
                <a:srgbClr val="495759"/>
              </a:solidFill>
              <a:extLst>
                <a:ext uri="{C807C97D-BFC1-408E-A445-0C87EB9F89A2}">
                  <ask:lineSketchStyleProps xmlns:ask="http://schemas.microsoft.com/office/drawing/2018/sketchyshapes" sd="981765707">
                    <a:custGeom>
                      <a:avLst/>
                      <a:gdLst>
                        <a:gd name="connsiteX0" fmla="*/ 0 w 2576348"/>
                        <a:gd name="connsiteY0" fmla="*/ 304806 h 1828800"/>
                        <a:gd name="connsiteX1" fmla="*/ 304806 w 2576348"/>
                        <a:gd name="connsiteY1" fmla="*/ 0 h 1828800"/>
                        <a:gd name="connsiteX2" fmla="*/ 960385 w 2576348"/>
                        <a:gd name="connsiteY2" fmla="*/ 0 h 1828800"/>
                        <a:gd name="connsiteX3" fmla="*/ 1655298 w 2576348"/>
                        <a:gd name="connsiteY3" fmla="*/ 0 h 1828800"/>
                        <a:gd name="connsiteX4" fmla="*/ 2271542 w 2576348"/>
                        <a:gd name="connsiteY4" fmla="*/ 0 h 1828800"/>
                        <a:gd name="connsiteX5" fmla="*/ 2576348 w 2576348"/>
                        <a:gd name="connsiteY5" fmla="*/ 304806 h 1828800"/>
                        <a:gd name="connsiteX6" fmla="*/ 2576348 w 2576348"/>
                        <a:gd name="connsiteY6" fmla="*/ 914400 h 1828800"/>
                        <a:gd name="connsiteX7" fmla="*/ 2576348 w 2576348"/>
                        <a:gd name="connsiteY7" fmla="*/ 1523994 h 1828800"/>
                        <a:gd name="connsiteX8" fmla="*/ 2271542 w 2576348"/>
                        <a:gd name="connsiteY8" fmla="*/ 1828800 h 1828800"/>
                        <a:gd name="connsiteX9" fmla="*/ 1596296 w 2576348"/>
                        <a:gd name="connsiteY9" fmla="*/ 1828800 h 1828800"/>
                        <a:gd name="connsiteX10" fmla="*/ 960385 w 2576348"/>
                        <a:gd name="connsiteY10" fmla="*/ 1828800 h 1828800"/>
                        <a:gd name="connsiteX11" fmla="*/ 304806 w 2576348"/>
                        <a:gd name="connsiteY11" fmla="*/ 1828800 h 1828800"/>
                        <a:gd name="connsiteX12" fmla="*/ 0 w 2576348"/>
                        <a:gd name="connsiteY12" fmla="*/ 1523994 h 1828800"/>
                        <a:gd name="connsiteX13" fmla="*/ 0 w 2576348"/>
                        <a:gd name="connsiteY13" fmla="*/ 938784 h 1828800"/>
                        <a:gd name="connsiteX14" fmla="*/ 0 w 2576348"/>
                        <a:gd name="connsiteY14" fmla="*/ 304806 h 18288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2576348" h="1828800" extrusionOk="0">
                          <a:moveTo>
                            <a:pt x="0" y="304806"/>
                          </a:moveTo>
                          <a:cubicBezTo>
                            <a:pt x="-7590" y="149782"/>
                            <a:pt x="98492" y="-15681"/>
                            <a:pt x="304806" y="0"/>
                          </a:cubicBezTo>
                          <a:cubicBezTo>
                            <a:pt x="492222" y="11640"/>
                            <a:pt x="826944" y="15779"/>
                            <a:pt x="960385" y="0"/>
                          </a:cubicBezTo>
                          <a:cubicBezTo>
                            <a:pt x="1093826" y="-15779"/>
                            <a:pt x="1447590" y="13693"/>
                            <a:pt x="1655298" y="0"/>
                          </a:cubicBezTo>
                          <a:cubicBezTo>
                            <a:pt x="1863006" y="-13693"/>
                            <a:pt x="2030213" y="1762"/>
                            <a:pt x="2271542" y="0"/>
                          </a:cubicBezTo>
                          <a:cubicBezTo>
                            <a:pt x="2440503" y="7301"/>
                            <a:pt x="2575156" y="125176"/>
                            <a:pt x="2576348" y="304806"/>
                          </a:cubicBezTo>
                          <a:cubicBezTo>
                            <a:pt x="2548720" y="555796"/>
                            <a:pt x="2583946" y="732306"/>
                            <a:pt x="2576348" y="914400"/>
                          </a:cubicBezTo>
                          <a:cubicBezTo>
                            <a:pt x="2568750" y="1096494"/>
                            <a:pt x="2561150" y="1281577"/>
                            <a:pt x="2576348" y="1523994"/>
                          </a:cubicBezTo>
                          <a:cubicBezTo>
                            <a:pt x="2572133" y="1674566"/>
                            <a:pt x="2435107" y="1827612"/>
                            <a:pt x="2271542" y="1828800"/>
                          </a:cubicBezTo>
                          <a:cubicBezTo>
                            <a:pt x="2052367" y="1831231"/>
                            <a:pt x="1796983" y="1810287"/>
                            <a:pt x="1596296" y="1828800"/>
                          </a:cubicBezTo>
                          <a:cubicBezTo>
                            <a:pt x="1395609" y="1847313"/>
                            <a:pt x="1176913" y="1808038"/>
                            <a:pt x="960385" y="1828800"/>
                          </a:cubicBezTo>
                          <a:cubicBezTo>
                            <a:pt x="743857" y="1849562"/>
                            <a:pt x="514879" y="1809812"/>
                            <a:pt x="304806" y="1828800"/>
                          </a:cubicBezTo>
                          <a:cubicBezTo>
                            <a:pt x="163038" y="1822248"/>
                            <a:pt x="-15357" y="1727294"/>
                            <a:pt x="0" y="1523994"/>
                          </a:cubicBezTo>
                          <a:cubicBezTo>
                            <a:pt x="13887" y="1368599"/>
                            <a:pt x="-26617" y="1156804"/>
                            <a:pt x="0" y="938784"/>
                          </a:cubicBezTo>
                          <a:cubicBezTo>
                            <a:pt x="26617" y="720764"/>
                            <a:pt x="-12436" y="569942"/>
                            <a:pt x="0" y="30480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651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57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1EFC926-602A-AE44-852A-FC1CD672DC91}"/>
              </a:ext>
            </a:extLst>
          </p:cNvPr>
          <p:cNvSpPr/>
          <p:nvPr/>
        </p:nvSpPr>
        <p:spPr>
          <a:xfrm>
            <a:off x="8501331" y="5789547"/>
            <a:ext cx="3853959" cy="1021217"/>
          </a:xfrm>
          <a:prstGeom prst="roundRect">
            <a:avLst/>
          </a:prstGeom>
          <a:solidFill>
            <a:srgbClr val="F7E2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17A8495-9F38-1D4B-289B-2ECAE4DC5655}"/>
              </a:ext>
            </a:extLst>
          </p:cNvPr>
          <p:cNvSpPr/>
          <p:nvPr/>
        </p:nvSpPr>
        <p:spPr>
          <a:xfrm>
            <a:off x="9371803" y="4746170"/>
            <a:ext cx="2983487" cy="1021217"/>
          </a:xfrm>
          <a:prstGeom prst="roundRect">
            <a:avLst/>
          </a:prstGeom>
          <a:solidFill>
            <a:srgbClr val="F7E2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ald person in a red shirt&#10;&#10;AI-generated content may be incorrect.">
            <a:extLst>
              <a:ext uri="{FF2B5EF4-FFF2-40B4-BE49-F238E27FC236}">
                <a16:creationId xmlns:a16="http://schemas.microsoft.com/office/drawing/2014/main" id="{7159CAA7-14B4-F563-9043-783554702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44" y="1317682"/>
            <a:ext cx="1157604" cy="1157604"/>
          </a:xfrm>
          <a:prstGeom prst="ellipse">
            <a:avLst/>
          </a:prstGeom>
          <a:ln w="9525" cap="rnd">
            <a:solidFill>
              <a:srgbClr val="F7E2D7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 descr="A person wearing glasses and a white shirt&#10;&#10;AI-generated content may be incorrect.">
            <a:extLst>
              <a:ext uri="{FF2B5EF4-FFF2-40B4-BE49-F238E27FC236}">
                <a16:creationId xmlns:a16="http://schemas.microsoft.com/office/drawing/2014/main" id="{10ABC6F5-1BE9-41F1-444B-95167E84E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988" y="1317682"/>
            <a:ext cx="1157604" cy="1157604"/>
          </a:xfrm>
          <a:prstGeom prst="ellipse">
            <a:avLst/>
          </a:prstGeom>
          <a:ln w="9525" cap="rnd">
            <a:solidFill>
              <a:srgbClr val="F7E2D7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 descr="A person with grey hair smiling&#10;&#10;AI-generated content may be incorrect.">
            <a:extLst>
              <a:ext uri="{FF2B5EF4-FFF2-40B4-BE49-F238E27FC236}">
                <a16:creationId xmlns:a16="http://schemas.microsoft.com/office/drawing/2014/main" id="{E6FDC4E3-ED20-B894-2DBC-FC136D334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0197" y="3180997"/>
            <a:ext cx="1157605" cy="1157605"/>
          </a:xfrm>
          <a:prstGeom prst="ellipse">
            <a:avLst/>
          </a:prstGeom>
          <a:ln w="9525" cap="rnd">
            <a:solidFill>
              <a:srgbClr val="F7E2D7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Picture 9" descr="A person with curly hair wearing glasses&#10;&#10;AI-generated content may be incorrect.">
            <a:extLst>
              <a:ext uri="{FF2B5EF4-FFF2-40B4-BE49-F238E27FC236}">
                <a16:creationId xmlns:a16="http://schemas.microsoft.com/office/drawing/2014/main" id="{10EDACBE-62D9-238F-A394-C9028BE362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2753" y="3180997"/>
            <a:ext cx="1157605" cy="1157605"/>
          </a:xfrm>
          <a:prstGeom prst="ellipse">
            <a:avLst/>
          </a:prstGeom>
          <a:ln w="9525" cap="rnd">
            <a:solidFill>
              <a:srgbClr val="F7E2D7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C4C12D-92FE-E11A-3C28-3DCDC4564BAE}"/>
              </a:ext>
            </a:extLst>
          </p:cNvPr>
          <p:cNvSpPr txBox="1"/>
          <p:nvPr/>
        </p:nvSpPr>
        <p:spPr>
          <a:xfrm>
            <a:off x="559175" y="2520364"/>
            <a:ext cx="1330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EDAFB8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Jamie Favata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32CB93-1AA3-B146-29E9-2F7C4132D0E0}"/>
              </a:ext>
            </a:extLst>
          </p:cNvPr>
          <p:cNvSpPr txBox="1"/>
          <p:nvPr/>
        </p:nvSpPr>
        <p:spPr>
          <a:xfrm>
            <a:off x="1966619" y="2520364"/>
            <a:ext cx="1435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EDAFB8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Mike Colabello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4EA052-626F-9DD3-D5E0-8BB60912D341}"/>
              </a:ext>
            </a:extLst>
          </p:cNvPr>
          <p:cNvSpPr txBox="1"/>
          <p:nvPr/>
        </p:nvSpPr>
        <p:spPr>
          <a:xfrm>
            <a:off x="2820197" y="4537569"/>
            <a:ext cx="1435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EDAFB8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Amy Schaefer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754B01-1414-00CC-7D60-3212FF5BE786}"/>
              </a:ext>
            </a:extLst>
          </p:cNvPr>
          <p:cNvSpPr txBox="1"/>
          <p:nvPr/>
        </p:nvSpPr>
        <p:spPr>
          <a:xfrm>
            <a:off x="1175210" y="4537569"/>
            <a:ext cx="1632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EDAFB8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Gunnar Hokanson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9072B5-1FCF-78EE-5745-7BEA26E038D2}"/>
              </a:ext>
            </a:extLst>
          </p:cNvPr>
          <p:cNvSpPr txBox="1"/>
          <p:nvPr/>
        </p:nvSpPr>
        <p:spPr>
          <a:xfrm>
            <a:off x="5351162" y="1467354"/>
            <a:ext cx="13305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EDAFB8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Decision Sciences and Innovation (DS&amp;I)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60C0C8-57E4-1446-5D1D-CE25B2B97D14}"/>
              </a:ext>
            </a:extLst>
          </p:cNvPr>
          <p:cNvSpPr txBox="1"/>
          <p:nvPr/>
        </p:nvSpPr>
        <p:spPr>
          <a:xfrm>
            <a:off x="5125384" y="3605910"/>
            <a:ext cx="1330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EDAFB8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Project Team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65AFEC-7F92-8A7F-DD9D-FF6BA0D92B3A}"/>
              </a:ext>
            </a:extLst>
          </p:cNvPr>
          <p:cNvCxnSpPr>
            <a:cxnSpLocks/>
            <a:stCxn id="4" idx="6"/>
            <a:endCxn id="15" idx="1"/>
          </p:cNvCxnSpPr>
          <p:nvPr/>
        </p:nvCxnSpPr>
        <p:spPr>
          <a:xfrm>
            <a:off x="4629038" y="1941561"/>
            <a:ext cx="722124" cy="2847"/>
          </a:xfrm>
          <a:prstGeom prst="line">
            <a:avLst/>
          </a:prstGeom>
          <a:ln>
            <a:solidFill>
              <a:srgbClr val="F7E2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0C15C7C-7140-974A-3928-27DCEFF92B02}"/>
              </a:ext>
            </a:extLst>
          </p:cNvPr>
          <p:cNvCxnSpPr>
            <a:cxnSpLocks/>
            <a:stCxn id="7" idx="6"/>
            <a:endCxn id="16" idx="1"/>
          </p:cNvCxnSpPr>
          <p:nvPr/>
        </p:nvCxnSpPr>
        <p:spPr>
          <a:xfrm flipV="1">
            <a:off x="3977802" y="3759799"/>
            <a:ext cx="1147582" cy="1"/>
          </a:xfrm>
          <a:prstGeom prst="line">
            <a:avLst/>
          </a:prstGeom>
          <a:ln>
            <a:solidFill>
              <a:srgbClr val="F7E2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B0630A00-C853-2D63-7F10-35531EBCC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4897" y="4845346"/>
            <a:ext cx="815545" cy="81554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56CEC3E-57C6-1A77-BBEB-022B22192738}"/>
              </a:ext>
            </a:extLst>
          </p:cNvPr>
          <p:cNvSpPr txBox="1"/>
          <p:nvPr/>
        </p:nvSpPr>
        <p:spPr>
          <a:xfrm>
            <a:off x="9811946" y="5060666"/>
            <a:ext cx="1140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Connect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95692B-D98A-0A2E-3B9F-0AA051416488}"/>
              </a:ext>
            </a:extLst>
          </p:cNvPr>
          <p:cNvSpPr txBox="1"/>
          <p:nvPr/>
        </p:nvSpPr>
        <p:spPr>
          <a:xfrm>
            <a:off x="9071359" y="6100100"/>
            <a:ext cx="1880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GitHub </a:t>
            </a:r>
            <a:r>
              <a:rPr lang="en-US" sz="2000" dirty="0" err="1">
                <a:solidFill>
                  <a:srgbClr val="495759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Reprex</a:t>
            </a:r>
            <a:endParaRPr lang="en-US" sz="2000" dirty="0">
              <a:solidFill>
                <a:srgbClr val="495759"/>
              </a:solidFill>
              <a:latin typeface="Söhne" panose="020B0503030202060203" pitchFamily="34" charset="0"/>
              <a:ea typeface="Geneva" panose="020B0503030404040204" pitchFamily="34" charset="0"/>
            </a:endParaRPr>
          </a:p>
        </p:txBody>
      </p:sp>
      <p:pic>
        <p:nvPicPr>
          <p:cNvPr id="25" name="Picture 2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F3D3E557-CE53-34B3-2566-F2EB47AA6E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9411" y="5835541"/>
            <a:ext cx="888656" cy="888656"/>
          </a:xfrm>
          <a:prstGeom prst="rect">
            <a:avLst/>
          </a:prstGeom>
        </p:spPr>
      </p:pic>
      <p:pic>
        <p:nvPicPr>
          <p:cNvPr id="27" name="Picture 26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7F006277-EAFF-174E-27E9-808F299820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810" y="6044373"/>
            <a:ext cx="2381980" cy="67290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9A66985-C038-9450-0EE6-0EE4FE7DAE24}"/>
              </a:ext>
            </a:extLst>
          </p:cNvPr>
          <p:cNvSpPr txBox="1"/>
          <p:nvPr/>
        </p:nvSpPr>
        <p:spPr>
          <a:xfrm>
            <a:off x="2570357" y="197284"/>
            <a:ext cx="9339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i="0" u="none" strike="noStrike" dirty="0">
                <a:solidFill>
                  <a:srgbClr val="DFDBD2"/>
                </a:solidFill>
                <a:effectLst/>
                <a:latin typeface="Tobias Light" pitchFamily="50" charset="0"/>
              </a:rPr>
              <a:t>Thank you! Questions?</a:t>
            </a:r>
            <a:endParaRPr lang="en-US" sz="4800" dirty="0">
              <a:solidFill>
                <a:srgbClr val="DFDBD2"/>
              </a:solidFill>
              <a:latin typeface="Tobias Light" pitchFamily="50" charset="0"/>
            </a:endParaRPr>
          </a:p>
        </p:txBody>
      </p:sp>
      <p:pic>
        <p:nvPicPr>
          <p:cNvPr id="4" name="Picture 3" descr="A person wearing glasses and a black shirt&#10;&#10;AI-generated content may be incorrect.">
            <a:extLst>
              <a:ext uri="{FF2B5EF4-FFF2-40B4-BE49-F238E27FC236}">
                <a16:creationId xmlns:a16="http://schemas.microsoft.com/office/drawing/2014/main" id="{36EC2F12-84B9-7663-47C4-8793E7BB16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1432" y="1362758"/>
            <a:ext cx="1157606" cy="1157606"/>
          </a:xfrm>
          <a:prstGeom prst="ellipse">
            <a:avLst/>
          </a:prstGeom>
          <a:ln w="9525" cap="rnd">
            <a:solidFill>
              <a:srgbClr val="F7E2D7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4214B61-76CB-126A-0076-56FE18D861F1}"/>
              </a:ext>
            </a:extLst>
          </p:cNvPr>
          <p:cNvSpPr txBox="1"/>
          <p:nvPr/>
        </p:nvSpPr>
        <p:spPr>
          <a:xfrm>
            <a:off x="3332477" y="2514830"/>
            <a:ext cx="1435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EDAFB8"/>
                </a:solidFill>
                <a:latin typeface="Söhne" panose="020B0503030202060203" pitchFamily="34" charset="0"/>
                <a:ea typeface="Geneva" panose="020B0503030404040204" pitchFamily="34" charset="0"/>
              </a:rPr>
              <a:t>Keaton Wilson</a:t>
            </a:r>
          </a:p>
        </p:txBody>
      </p:sp>
    </p:spTree>
    <p:extLst>
      <p:ext uri="{BB962C8B-B14F-4D97-AF65-F5344CB8AC3E}">
        <p14:creationId xmlns:p14="http://schemas.microsoft.com/office/powerpoint/2010/main" val="1696929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7BF6A2EC49204DA4A9D16DADECD08A" ma:contentTypeVersion="9" ma:contentTypeDescription="Create a new document." ma:contentTypeScope="" ma:versionID="9df110310496ca36d8423b30e27358dd">
  <xsd:schema xmlns:xsd="http://www.w3.org/2001/XMLSchema" xmlns:xs="http://www.w3.org/2001/XMLSchema" xmlns:p="http://schemas.microsoft.com/office/2006/metadata/properties" xmlns:ns2="ee70fed7-221f-4e00-990e-8bb2375a4726" xmlns:ns3="d7e337fb-c142-4976-bf07-2390684e3088" targetNamespace="http://schemas.microsoft.com/office/2006/metadata/properties" ma:root="true" ma:fieldsID="7e1773c0c7fd1184b8ba691a1d892661" ns2:_="" ns3:_="">
    <xsd:import namespace="ee70fed7-221f-4e00-990e-8bb2375a4726"/>
    <xsd:import namespace="d7e337fb-c142-4976-bf07-2390684e30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70fed7-221f-4e00-990e-8bb2375a47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0a8178d-0245-49ee-bb54-7ed2049105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e337fb-c142-4976-bf07-2390684e308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d10742e-f6e8-477c-800e-dbeb33ac4374}" ma:internalName="TaxCatchAll" ma:showField="CatchAllData" ma:web="d7e337fb-c142-4976-bf07-2390684e30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e70fed7-221f-4e00-990e-8bb2375a4726">
      <Terms xmlns="http://schemas.microsoft.com/office/infopath/2007/PartnerControls"/>
    </lcf76f155ced4ddcb4097134ff3c332f>
    <TaxCatchAll xmlns="d7e337fb-c142-4976-bf07-2390684e3088" xsi:nil="true"/>
  </documentManagement>
</p:properties>
</file>

<file path=customXml/itemProps1.xml><?xml version="1.0" encoding="utf-8"?>
<ds:datastoreItem xmlns:ds="http://schemas.openxmlformats.org/officeDocument/2006/customXml" ds:itemID="{A67BAD63-3133-427A-AA87-F87AA1992686}"/>
</file>

<file path=customXml/itemProps2.xml><?xml version="1.0" encoding="utf-8"?>
<ds:datastoreItem xmlns:ds="http://schemas.openxmlformats.org/officeDocument/2006/customXml" ds:itemID="{8D41BD5E-CAA6-402C-A3D3-E6DE05364874}"/>
</file>

<file path=customXml/itemProps3.xml><?xml version="1.0" encoding="utf-8"?>
<ds:datastoreItem xmlns:ds="http://schemas.openxmlformats.org/officeDocument/2006/customXml" ds:itemID="{BAA09BED-7758-472C-B365-96A128638AEE}"/>
</file>

<file path=docProps/app.xml><?xml version="1.0" encoding="utf-8"?>
<Properties xmlns="http://schemas.openxmlformats.org/officeDocument/2006/extended-properties" xmlns:vt="http://schemas.openxmlformats.org/officeDocument/2006/docPropsVTypes">
  <TotalTime>21976</TotalTime>
  <Words>880</Words>
  <Application>Microsoft Office PowerPoint</Application>
  <PresentationFormat>Widescreen</PresentationFormat>
  <Paragraphs>121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Fira Code</vt:lpstr>
      <vt:lpstr>Fredoka One</vt:lpstr>
      <vt:lpstr>Söhne</vt:lpstr>
      <vt:lpstr>Tobias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Jerome K - (keatonwilson)</dc:creator>
  <cp:lastModifiedBy>Keaton Wilson</cp:lastModifiedBy>
  <cp:revision>28</cp:revision>
  <dcterms:created xsi:type="dcterms:W3CDTF">2025-08-18T06:58:44Z</dcterms:created>
  <dcterms:modified xsi:type="dcterms:W3CDTF">2025-09-12T22:52:32Z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0x010100167BF6A2EC49204DA4A9D16DADECD08A</vt:lpwstr>
  </property>
</Properties>
</file>